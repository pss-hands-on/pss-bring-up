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db030a7-2307-cce9-a8b6-db51ff24dbf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Anatomy" id="{dc45b56a-bf8b-be67-3196-b9d2f9ebfb9c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Lab 1" id="{6dc2383f-6564-1d47-93b3-c82b40e41c71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Lab 2" id="{b5392eaa-ac2e-78a2-3fb9-b8c0abec186e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Wrap-up" id="{315501ec-abdf-222e-84c5-52f32e5fa79e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Diagrams are native shapes generated from diagrams/make_diagrams.py. Labs: labs/lab1, labs/lab2 (see labs/README.md).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are composed of many design blocks: processor core, interconnect, comm controller. Each needs complex programming to configure and operate, individually and in aggregate. Most apparent on integration teams: SoC, emulation, firmware, post-silicon.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team tests one way, another differently. One small config/programming difference causes the device to behave very differently. Major cause of integration headaches.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PSS test description -&gt; generator -&gt; test implemented in one of many languages. Each action bubble carries randomization AND register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109728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972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PSS operation models · hands-on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PSS Operation Models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Hands-on: one device model → SystemVerilog, C, C++, Python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Matthew Ballance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agenda dot 1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genda num 1"/>
          <p:cNvSpPr txBox="1"/>
          <p:nvPr/>
        </p:nvSpPr>
        <p:spPr>
          <a:xfrm>
            <a:off x="5486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898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Intro: what and why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Integration, drift, and how far PSS gets us today</a:t>
            </a:r>
            <a:endParaRPr lang="en-US" sz="1600" dirty="0"/>
          </a:p>
        </p:txBody>
      </p:sp>
      <p:sp>
        <p:nvSpPr>
          <p:cNvPr id="7" name="agenda dot 2"/>
          <p:cNvSpPr/>
          <p:nvPr/>
        </p:nvSpPr>
        <p:spPr>
          <a:xfrm>
            <a:off x="5486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genda num 2"/>
          <p:cNvSpPr txBox="1"/>
          <p:nvPr/>
        </p:nvSpPr>
        <p:spPr>
          <a:xfrm>
            <a:off x="5486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7860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Operation-model anatomy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71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What an operation model has to provide, and how it maps to SV and C</a:t>
            </a:r>
            <a:endParaRPr lang="en-US" sz="1600" dirty="0"/>
          </a:p>
        </p:txBody>
      </p:sp>
      <p:sp>
        <p:nvSpPr>
          <p:cNvPr id="11" name="agenda dot 3"/>
          <p:cNvSpPr/>
          <p:nvPr/>
        </p:nvSpPr>
        <p:spPr>
          <a:xfrm>
            <a:off x="548640" y="3749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agenda num 3"/>
          <p:cNvSpPr txBox="1"/>
          <p:nvPr/>
        </p:nvSpPr>
        <p:spPr>
          <a:xfrm>
            <a:off x="54864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Lab 1: Core structure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Component tree, initialization, export and import functions; generate and integrate</a:t>
            </a:r>
            <a:endParaRPr lang="en-US" sz="1600" dirty="0"/>
          </a:p>
        </p:txBody>
      </p:sp>
      <p:sp>
        <p:nvSpPr>
          <p:cNvPr id="15" name="agenda dot 4"/>
          <p:cNvSpPr/>
          <p:nvPr/>
        </p:nvSpPr>
        <p:spPr>
          <a:xfrm>
            <a:off x="548640" y="4937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genda num 4"/>
          <p:cNvSpPr txBox="1"/>
          <p:nvPr/>
        </p:nvSpPr>
        <p:spPr>
          <a:xfrm>
            <a:off x="54864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5604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Lab 2: Registers and memory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Register models from SystemRDL; programming sequences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Intro: what and why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BF4FF"/>
                </a:solidFill>
              </a:rPr>
              <a:t>Integration and the need for consistent content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Challenge 1: integration needs content</a:t>
            </a:r>
            <a:endParaRPr lang="en-US" sz="3200" dirty="0"/>
          </a:p>
        </p:txBody>
      </p:sp>
      <p:sp>
        <p:nvSpPr>
          <p:cNvPr id="4" name="integration_challenge shape 1"/>
          <p:cNvSpPr/>
          <p:nvPr/>
        </p:nvSpPr>
        <p:spPr>
          <a:xfrm>
            <a:off x="6465661" y="1557520"/>
            <a:ext cx="4900033" cy="4252859"/>
          </a:xfrm>
          <a:prstGeom prst="roundRect">
            <a:avLst>
              <a:gd name="adj" fmla="val 3478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</p:sp>
      <p:sp>
        <p:nvSpPr>
          <p:cNvPr id="5" name="integration_challenge text 2"/>
          <p:cNvSpPr txBox="1"/>
          <p:nvPr/>
        </p:nvSpPr>
        <p:spPr>
          <a:xfrm>
            <a:off x="8696586" y="1676600"/>
            <a:ext cx="438185" cy="262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22"/>
              </a:lnSpc>
              <a:buNone/>
            </a:pPr>
            <a:r>
              <a:rPr lang="en-US" sz="1602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602" dirty="0"/>
          </a:p>
        </p:txBody>
      </p:sp>
      <p:sp>
        <p:nvSpPr>
          <p:cNvPr id="6" name="integration_challenge box 3"/>
          <p:cNvSpPr/>
          <p:nvPr/>
        </p:nvSpPr>
        <p:spPr>
          <a:xfrm>
            <a:off x="6743022" y="2112241"/>
            <a:ext cx="2033976" cy="739628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core</a:t>
            </a:r>
            <a:endParaRPr lang="en-US" sz="1165" dirty="0"/>
          </a:p>
        </p:txBody>
      </p:sp>
      <p:sp>
        <p:nvSpPr>
          <p:cNvPr id="7" name="integration_challenge box 4"/>
          <p:cNvSpPr/>
          <p:nvPr/>
        </p:nvSpPr>
        <p:spPr>
          <a:xfrm>
            <a:off x="9054358" y="2112241"/>
            <a:ext cx="2033976" cy="739628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</a:t>
            </a:r>
            <a:endParaRPr lang="en-US" sz="1165" dirty="0"/>
          </a:p>
        </p:txBody>
      </p:sp>
      <p:sp>
        <p:nvSpPr>
          <p:cNvPr id="8" name="integration_challenge box 5"/>
          <p:cNvSpPr/>
          <p:nvPr/>
        </p:nvSpPr>
        <p:spPr>
          <a:xfrm>
            <a:off x="6743022" y="3129229"/>
            <a:ext cx="2033976" cy="739628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165" dirty="0"/>
          </a:p>
        </p:txBody>
      </p:sp>
      <p:sp>
        <p:nvSpPr>
          <p:cNvPr id="9" name="integration_challenge box 6"/>
          <p:cNvSpPr/>
          <p:nvPr/>
        </p:nvSpPr>
        <p:spPr>
          <a:xfrm>
            <a:off x="9054358" y="3129229"/>
            <a:ext cx="2033976" cy="739628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 ctrl (UART/SPI)</a:t>
            </a:r>
            <a:endParaRPr lang="en-US" sz="1165" dirty="0"/>
          </a:p>
        </p:txBody>
      </p:sp>
      <p:sp>
        <p:nvSpPr>
          <p:cNvPr id="10" name="integration_challenge box 7"/>
          <p:cNvSpPr/>
          <p:nvPr/>
        </p:nvSpPr>
        <p:spPr>
          <a:xfrm>
            <a:off x="6743022" y="4146217"/>
            <a:ext cx="2033976" cy="739628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</a:t>
            </a:r>
            <a:endParaRPr lang="en-US" sz="1165" dirty="0"/>
          </a:p>
        </p:txBody>
      </p:sp>
      <p:sp>
        <p:nvSpPr>
          <p:cNvPr id="11" name="integration_challenge box 8"/>
          <p:cNvSpPr/>
          <p:nvPr/>
        </p:nvSpPr>
        <p:spPr>
          <a:xfrm>
            <a:off x="9054358" y="4146217"/>
            <a:ext cx="2033976" cy="739628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ctrl</a:t>
            </a:r>
            <a:endParaRPr lang="en-US" sz="1165" dirty="0"/>
          </a:p>
        </p:txBody>
      </p:sp>
      <p:sp>
        <p:nvSpPr>
          <p:cNvPr id="12" name="integration_challenge text 9"/>
          <p:cNvSpPr txBox="1"/>
          <p:nvPr/>
        </p:nvSpPr>
        <p:spPr>
          <a:xfrm>
            <a:off x="6930887" y="5185394"/>
            <a:ext cx="3969582" cy="42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2"/>
              </a:lnSpc>
              <a:buNone/>
            </a:pPr>
            <a:r>
              <a:rPr lang="en-US" sz="1092" i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block: complex to configure and operate,</a:t>
            </a:r>
            <a:endParaRPr lang="en-US" sz="1092" dirty="0"/>
          </a:p>
          <a:p>
            <a:pPr algn="ctr" indent="0" marL="0">
              <a:lnSpc>
                <a:spcPts val="1602"/>
              </a:lnSpc>
              <a:buNone/>
            </a:pPr>
            <a:r>
              <a:rPr lang="en-US" sz="1092" i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 and in combination</a:t>
            </a:r>
            <a:endParaRPr lang="en-US" sz="1092" dirty="0"/>
          </a:p>
        </p:txBody>
      </p:sp>
      <p:sp>
        <p:nvSpPr>
          <p:cNvPr id="13" name="integration_challenge box 10"/>
          <p:cNvSpPr/>
          <p:nvPr/>
        </p:nvSpPr>
        <p:spPr>
          <a:xfrm>
            <a:off x="826000" y="1649974"/>
            <a:ext cx="2773604" cy="832081"/>
          </a:xfrm>
          <a:prstGeom prst="roundRect">
            <a:avLst>
              <a:gd name="adj" fmla="val 11111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DV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SystemVerilog / UVM</a:t>
            </a:r>
            <a:endParaRPr lang="en-US" sz="1238" dirty="0"/>
          </a:p>
        </p:txBody>
      </p:sp>
      <p:sp>
        <p:nvSpPr>
          <p:cNvPr id="14" name="integration_challenge line 11"/>
          <p:cNvSpPr/>
          <p:nvPr/>
        </p:nvSpPr>
        <p:spPr>
          <a:xfrm>
            <a:off x="3599604" y="2066014"/>
            <a:ext cx="2829076" cy="323587"/>
          </a:xfrm>
          <a:prstGeom prst="line">
            <a:avLst/>
          </a:prstGeom>
          <a:noFill/>
          <a:ln w="18491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15" name="integration_challenge box 12"/>
          <p:cNvSpPr/>
          <p:nvPr/>
        </p:nvSpPr>
        <p:spPr>
          <a:xfrm>
            <a:off x="826000" y="2713189"/>
            <a:ext cx="2773604" cy="832081"/>
          </a:xfrm>
          <a:prstGeom prst="roundRect">
            <a:avLst>
              <a:gd name="adj" fmla="val 11111"/>
            </a:avLst>
          </a:prstGeom>
          <a:solidFill>
            <a:srgbClr val="E6FFFA"/>
          </a:solidFill>
          <a:ln w="18491">
            <a:solidFill>
              <a:srgbClr val="2C7A7B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D4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Emulation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1D4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on core  +  SV</a:t>
            </a:r>
            <a:endParaRPr lang="en-US" sz="1238" dirty="0"/>
          </a:p>
        </p:txBody>
      </p:sp>
      <p:sp>
        <p:nvSpPr>
          <p:cNvPr id="16" name="integration_challenge line 13"/>
          <p:cNvSpPr/>
          <p:nvPr/>
        </p:nvSpPr>
        <p:spPr>
          <a:xfrm>
            <a:off x="3599604" y="3129229"/>
            <a:ext cx="2829076" cy="92453"/>
          </a:xfrm>
          <a:prstGeom prst="line">
            <a:avLst/>
          </a:prstGeom>
          <a:noFill/>
          <a:ln w="18491">
            <a:solidFill>
              <a:srgbClr val="2C7A7B"/>
            </a:solidFill>
            <a:prstDash val="solid"/>
            <a:tailEnd type="triangle"/>
          </a:ln>
        </p:spPr>
      </p:sp>
      <p:sp>
        <p:nvSpPr>
          <p:cNvPr id="17" name="integration_challenge box 14"/>
          <p:cNvSpPr/>
          <p:nvPr/>
        </p:nvSpPr>
        <p:spPr>
          <a:xfrm>
            <a:off x="826000" y="3776403"/>
            <a:ext cx="2773604" cy="832081"/>
          </a:xfrm>
          <a:prstGeom prst="roundRect">
            <a:avLst>
              <a:gd name="adj" fmla="val 11111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bare-metal</a:t>
            </a:r>
            <a:endParaRPr lang="en-US" sz="1238" dirty="0"/>
          </a:p>
        </p:txBody>
      </p:sp>
      <p:sp>
        <p:nvSpPr>
          <p:cNvPr id="18" name="integration_challenge line 15"/>
          <p:cNvSpPr/>
          <p:nvPr/>
        </p:nvSpPr>
        <p:spPr>
          <a:xfrm flipV="1">
            <a:off x="3599604" y="4053764"/>
            <a:ext cx="2829076" cy="138680"/>
          </a:xfrm>
          <a:prstGeom prst="line">
            <a:avLst/>
          </a:prstGeom>
          <a:noFill/>
          <a:ln w="18491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9" name="integration_challenge box 16"/>
          <p:cNvSpPr/>
          <p:nvPr/>
        </p:nvSpPr>
        <p:spPr>
          <a:xfrm>
            <a:off x="826000" y="4839618"/>
            <a:ext cx="2773604" cy="832081"/>
          </a:xfrm>
          <a:prstGeom prst="roundRect">
            <a:avLst>
              <a:gd name="adj" fmla="val 11111"/>
            </a:avLst>
          </a:prstGeom>
          <a:solidFill>
            <a:srgbClr val="FFF8E6"/>
          </a:solidFill>
          <a:ln w="18491">
            <a:solidFill>
              <a:srgbClr val="B7791F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Post-silicon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/ Python, lab</a:t>
            </a:r>
            <a:endParaRPr lang="en-US" sz="1238" dirty="0"/>
          </a:p>
        </p:txBody>
      </p:sp>
      <p:sp>
        <p:nvSpPr>
          <p:cNvPr id="20" name="integration_challenge line 17"/>
          <p:cNvSpPr/>
          <p:nvPr/>
        </p:nvSpPr>
        <p:spPr>
          <a:xfrm flipV="1">
            <a:off x="3599604" y="4885845"/>
            <a:ext cx="2829076" cy="369814"/>
          </a:xfrm>
          <a:prstGeom prst="line">
            <a:avLst/>
          </a:prstGeom>
          <a:noFill/>
          <a:ln w="18491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21" name="integration_challenge text 18"/>
          <p:cNvSpPr txBox="1"/>
          <p:nvPr/>
        </p:nvSpPr>
        <p:spPr>
          <a:xfrm>
            <a:off x="3656703" y="1378161"/>
            <a:ext cx="2751859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programs every block</a:t>
            </a:r>
            <a:endParaRPr lang="en-US" sz="1092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Challenge 2: drift</a:t>
            </a:r>
            <a:endParaRPr lang="en-US" sz="3200" dirty="0"/>
          </a:p>
        </p:txBody>
      </p:sp>
      <p:sp>
        <p:nvSpPr>
          <p:cNvPr id="4" name="drift box 1"/>
          <p:cNvSpPr/>
          <p:nvPr/>
        </p:nvSpPr>
        <p:spPr>
          <a:xfrm>
            <a:off x="8314731" y="2851869"/>
            <a:ext cx="2773604" cy="1571709"/>
          </a:xfrm>
          <a:prstGeom prst="roundRect">
            <a:avLst>
              <a:gd name="adj" fmla="val 5882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893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893" dirty="0"/>
          </a:p>
        </p:txBody>
      </p:sp>
      <p:sp>
        <p:nvSpPr>
          <p:cNvPr id="5" name="drift text 2"/>
          <p:cNvSpPr txBox="1"/>
          <p:nvPr/>
        </p:nvSpPr>
        <p:spPr>
          <a:xfrm>
            <a:off x="9209902" y="3819302"/>
            <a:ext cx="983261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i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device</a:t>
            </a:r>
            <a:endParaRPr lang="en-US" sz="1165" dirty="0"/>
          </a:p>
        </p:txBody>
      </p:sp>
      <p:sp>
        <p:nvSpPr>
          <p:cNvPr id="6" name="drift box 3"/>
          <p:cNvSpPr/>
          <p:nvPr/>
        </p:nvSpPr>
        <p:spPr>
          <a:xfrm>
            <a:off x="826000" y="1418840"/>
            <a:ext cx="3698138" cy="1016988"/>
          </a:xfrm>
          <a:prstGeom prst="roundRect">
            <a:avLst>
              <a:gd name="adj" fmla="val 9091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  <p:txBody>
          <a:bodyPr wrap="square" lIns="120189" tIns="86906" rIns="73963" bIns="36981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DV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CSR.en  = 1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      = 64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 CSR.done</a:t>
            </a:r>
            <a:endParaRPr lang="en-US" sz="1238" dirty="0"/>
          </a:p>
        </p:txBody>
      </p:sp>
      <p:sp>
        <p:nvSpPr>
          <p:cNvPr id="7" name="drift line 4"/>
          <p:cNvSpPr/>
          <p:nvPr/>
        </p:nvSpPr>
        <p:spPr>
          <a:xfrm>
            <a:off x="4524139" y="1927334"/>
            <a:ext cx="3753610" cy="1201895"/>
          </a:xfrm>
          <a:prstGeom prst="line">
            <a:avLst/>
          </a:prstGeom>
          <a:noFill/>
          <a:ln w="18491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8" name="drift box 5"/>
          <p:cNvSpPr/>
          <p:nvPr/>
        </p:nvSpPr>
        <p:spPr>
          <a:xfrm>
            <a:off x="826000" y="2574508"/>
            <a:ext cx="3698138" cy="1016988"/>
          </a:xfrm>
          <a:prstGeom prst="roundRect">
            <a:avLst>
              <a:gd name="adj" fmla="val 9091"/>
            </a:avLst>
          </a:prstGeom>
          <a:solidFill>
            <a:srgbClr val="E6FFFA"/>
          </a:solidFill>
          <a:ln w="18491">
            <a:solidFill>
              <a:srgbClr val="2C7A7B"/>
            </a:solidFill>
            <a:prstDash val="solid"/>
          </a:ln>
        </p:spPr>
        <p:txBody>
          <a:bodyPr wrap="square" lIns="120189" tIns="86906" rIns="73963" bIns="36981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238" b="1" dirty="0">
                <a:solidFill>
                  <a:srgbClr val="1D4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Emulation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1D4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      = 64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1D4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CSR.en  = 1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1D4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 CSR.done</a:t>
            </a:r>
            <a:endParaRPr lang="en-US" sz="1238" dirty="0"/>
          </a:p>
        </p:txBody>
      </p:sp>
      <p:sp>
        <p:nvSpPr>
          <p:cNvPr id="9" name="drift line 6"/>
          <p:cNvSpPr/>
          <p:nvPr/>
        </p:nvSpPr>
        <p:spPr>
          <a:xfrm>
            <a:off x="4524139" y="3083002"/>
            <a:ext cx="3753610" cy="388305"/>
          </a:xfrm>
          <a:prstGeom prst="line">
            <a:avLst/>
          </a:prstGeom>
          <a:noFill/>
          <a:ln w="18491">
            <a:solidFill>
              <a:srgbClr val="2C7A7B"/>
            </a:solidFill>
            <a:prstDash val="solid"/>
            <a:tailEnd type="triangle"/>
          </a:ln>
        </p:spPr>
      </p:sp>
      <p:sp>
        <p:nvSpPr>
          <p:cNvPr id="10" name="drift text 7"/>
          <p:cNvSpPr txBox="1"/>
          <p:nvPr/>
        </p:nvSpPr>
        <p:spPr>
          <a:xfrm>
            <a:off x="5783976" y="2820065"/>
            <a:ext cx="623743" cy="17381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order</a:t>
            </a:r>
            <a:endParaRPr lang="en-US" sz="1019" dirty="0"/>
          </a:p>
        </p:txBody>
      </p:sp>
      <p:sp>
        <p:nvSpPr>
          <p:cNvPr id="11" name="drift box 8"/>
          <p:cNvSpPr/>
          <p:nvPr/>
        </p:nvSpPr>
        <p:spPr>
          <a:xfrm>
            <a:off x="826000" y="3730177"/>
            <a:ext cx="3698138" cy="1016988"/>
          </a:xfrm>
          <a:prstGeom prst="roundRect">
            <a:avLst>
              <a:gd name="adj" fmla="val 9091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  <p:txBody>
          <a:bodyPr wrap="square" lIns="120189" tIns="86906" rIns="73963" bIns="36981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     = 0x1  // prio=0!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      = 64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IRQ</a:t>
            </a:r>
            <a:endParaRPr lang="en-US" sz="1238" dirty="0"/>
          </a:p>
        </p:txBody>
      </p:sp>
      <p:sp>
        <p:nvSpPr>
          <p:cNvPr id="12" name="drift line 9"/>
          <p:cNvSpPr/>
          <p:nvPr/>
        </p:nvSpPr>
        <p:spPr>
          <a:xfrm flipV="1">
            <a:off x="4524139" y="3813385"/>
            <a:ext cx="3753610" cy="425286"/>
          </a:xfrm>
          <a:prstGeom prst="line">
            <a:avLst/>
          </a:prstGeom>
          <a:noFill/>
          <a:ln w="18491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3" name="drift text 10"/>
          <p:cNvSpPr txBox="1"/>
          <p:nvPr/>
        </p:nvSpPr>
        <p:spPr>
          <a:xfrm>
            <a:off x="5621613" y="4160640"/>
            <a:ext cx="948469" cy="17381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prio lost</a:t>
            </a:r>
            <a:endParaRPr lang="en-US" sz="1019" dirty="0"/>
          </a:p>
        </p:txBody>
      </p:sp>
      <p:sp>
        <p:nvSpPr>
          <p:cNvPr id="14" name="drift box 11"/>
          <p:cNvSpPr/>
          <p:nvPr/>
        </p:nvSpPr>
        <p:spPr>
          <a:xfrm>
            <a:off x="826000" y="4885845"/>
            <a:ext cx="3698138" cy="1016988"/>
          </a:xfrm>
          <a:prstGeom prst="roundRect">
            <a:avLst>
              <a:gd name="adj" fmla="val 9091"/>
            </a:avLst>
          </a:prstGeom>
          <a:solidFill>
            <a:srgbClr val="FFF8E6"/>
          </a:solidFill>
          <a:ln w="18491">
            <a:solidFill>
              <a:srgbClr val="B7791F"/>
            </a:solidFill>
            <a:prstDash val="solid"/>
          </a:ln>
        </p:spPr>
        <p:txBody>
          <a:bodyPr wrap="square" lIns="120189" tIns="86906" rIns="73963" bIns="36981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238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Post-silicon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744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      = 0x40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744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CSR.en  = 1</a:t>
            </a:r>
            <a:endParaRPr lang="en-US" sz="1238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744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sleep(1ms)</a:t>
            </a:r>
            <a:endParaRPr lang="en-US" sz="1238" dirty="0"/>
          </a:p>
        </p:txBody>
      </p:sp>
      <p:sp>
        <p:nvSpPr>
          <p:cNvPr id="15" name="drift line 12"/>
          <p:cNvSpPr/>
          <p:nvPr/>
        </p:nvSpPr>
        <p:spPr>
          <a:xfrm flipV="1">
            <a:off x="4524139" y="4155463"/>
            <a:ext cx="3753610" cy="1238876"/>
          </a:xfrm>
          <a:prstGeom prst="line">
            <a:avLst/>
          </a:prstGeom>
          <a:noFill/>
          <a:ln w="18491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6" name="drift text 13"/>
          <p:cNvSpPr txBox="1"/>
          <p:nvPr/>
        </p:nvSpPr>
        <p:spPr>
          <a:xfrm>
            <a:off x="5215705" y="5501215"/>
            <a:ext cx="1760284" cy="17381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no completion check</a:t>
            </a:r>
            <a:endParaRPr lang="en-US" sz="1019" dirty="0"/>
          </a:p>
        </p:txBody>
      </p:sp>
      <p:sp>
        <p:nvSpPr>
          <p:cNvPr id="17" name="drift text 14"/>
          <p:cNvSpPr txBox="1"/>
          <p:nvPr/>
        </p:nvSpPr>
        <p:spPr>
          <a:xfrm>
            <a:off x="8473470" y="4608485"/>
            <a:ext cx="2456126" cy="48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1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teams → 4 sequences</a:t>
            </a:r>
            <a:endParaRPr lang="en-US" sz="1310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31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 different behaviors</a:t>
            </a:r>
            <a:endParaRPr lang="en-US" sz="1310" dirty="0"/>
          </a:p>
        </p:txBody>
      </p:sp>
      <p:sp>
        <p:nvSpPr>
          <p:cNvPr id="18" name="drift text 15"/>
          <p:cNvSpPr txBox="1"/>
          <p:nvPr/>
        </p:nvSpPr>
        <p:spPr>
          <a:xfrm>
            <a:off x="8096555" y="5298557"/>
            <a:ext cx="3209955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“Works in sim, fails on the board”</a:t>
            </a:r>
            <a:endParaRPr lang="en-US" sz="116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Bottom line: one device, four delivery requirements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We need </a:t>
            </a:r>
            <a:r>
              <a:rPr lang="en-US" sz="1800" b="1" dirty="0">
                <a:solidFill>
                  <a:schemeClr val="tx1"/>
                </a:solidFill>
              </a:rPr>
              <a:t>consistent device-programming content</a:t>
            </a:r>
            <a:r>
              <a:rPr lang="en-US" sz="1800" dirty="0">
                <a:solidFill>
                  <a:schemeClr val="tx1"/>
                </a:solidFill>
              </a:rPr>
              <a:t>, delivered in </a:t>
            </a:r>
            <a:r>
              <a:rPr lang="en-US" sz="1800" b="1" dirty="0">
                <a:solidFill>
                  <a:schemeClr val="tx1"/>
                </a:solidFill>
              </a:rPr>
              <a:t>several languages and methodologies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5696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needs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DV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SystemVerilog / UVM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time-consuming tasks, sequencer-driven bus access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on the core, SV on the host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footprint, fast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bare-metal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heap, no scheduler, </a:t>
                      </a:r>
                      <a:r>
                        <a:rPr lang="en-US" sz="145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volatile</a:t>
                      </a: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MMIO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Post-silicon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Python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scripting, lab debug, real hardware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Same device knowledge, four different delivery requirements.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PSS: the visible solution for portable </a:t>
            </a:r>
            <a:r>
              <a:rPr lang="en-US" sz="3200" b="1" i="1" dirty="0">
                <a:solidFill>
                  <a:schemeClr val="tx2"/>
                </a:solidFill>
              </a:rPr>
              <a:t>tests</a:t>
            </a:r>
            <a:endParaRPr lang="en-US" sz="3200" dirty="0"/>
          </a:p>
        </p:txBody>
      </p:sp>
      <p:sp>
        <p:nvSpPr>
          <p:cNvPr id="4" name="pss_test_portability shape 1"/>
          <p:cNvSpPr/>
          <p:nvPr/>
        </p:nvSpPr>
        <p:spPr>
          <a:xfrm>
            <a:off x="733547" y="1465067"/>
            <a:ext cx="5177394" cy="3975499"/>
          </a:xfrm>
          <a:prstGeom prst="roundRect">
            <a:avLst>
              <a:gd name="adj" fmla="val 3721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</p:sp>
      <p:sp>
        <p:nvSpPr>
          <p:cNvPr id="5" name="pss_test_portability text 2"/>
          <p:cNvSpPr txBox="1"/>
          <p:nvPr/>
        </p:nvSpPr>
        <p:spPr>
          <a:xfrm>
            <a:off x="2134772" y="1583407"/>
            <a:ext cx="2374944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 test description</a:t>
            </a:r>
            <a:endParaRPr lang="en-US" sz="1456" dirty="0"/>
          </a:p>
        </p:txBody>
      </p:sp>
      <p:sp>
        <p:nvSpPr>
          <p:cNvPr id="6" name="pss_test_portability shape 3"/>
          <p:cNvSpPr/>
          <p:nvPr/>
        </p:nvSpPr>
        <p:spPr>
          <a:xfrm>
            <a:off x="2259029" y="1973561"/>
            <a:ext cx="2126430" cy="110944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7" name="pss_test_portability text 4"/>
          <p:cNvSpPr txBox="1"/>
          <p:nvPr/>
        </p:nvSpPr>
        <p:spPr>
          <a:xfrm>
            <a:off x="2766414" y="2081547"/>
            <a:ext cx="1111660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dma_xfer_a</a:t>
            </a:r>
            <a:endParaRPr lang="en-US" sz="1238" dirty="0"/>
          </a:p>
        </p:txBody>
      </p:sp>
      <p:sp>
        <p:nvSpPr>
          <p:cNvPr id="8" name="pss_test_portability line 5"/>
          <p:cNvSpPr/>
          <p:nvPr/>
        </p:nvSpPr>
        <p:spPr>
          <a:xfrm>
            <a:off x="2443936" y="2343375"/>
            <a:ext cx="1756616" cy="0"/>
          </a:xfrm>
          <a:prstGeom prst="line">
            <a:avLst/>
          </a:prstGeom>
          <a:noFill/>
          <a:ln w="9245">
            <a:solidFill>
              <a:srgbClr val="CBD5E0"/>
            </a:solidFill>
            <a:prstDash val="solid"/>
          </a:ln>
        </p:spPr>
      </p:sp>
      <p:sp>
        <p:nvSpPr>
          <p:cNvPr id="9" name="pss_test_portability text 6"/>
          <p:cNvSpPr txBox="1"/>
          <p:nvPr/>
        </p:nvSpPr>
        <p:spPr>
          <a:xfrm>
            <a:off x="2642156" y="2441006"/>
            <a:ext cx="1360175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size, chan</a:t>
            </a:r>
            <a:endParaRPr lang="en-US" sz="1019" dirty="0"/>
          </a:p>
        </p:txBody>
      </p:sp>
      <p:sp>
        <p:nvSpPr>
          <p:cNvPr id="10" name="pss_test_portability line 7"/>
          <p:cNvSpPr/>
          <p:nvPr/>
        </p:nvSpPr>
        <p:spPr>
          <a:xfrm>
            <a:off x="2443936" y="2694698"/>
            <a:ext cx="1756616" cy="0"/>
          </a:xfrm>
          <a:prstGeom prst="line">
            <a:avLst/>
          </a:prstGeom>
          <a:noFill/>
          <a:ln w="9245">
            <a:solidFill>
              <a:srgbClr val="CBD5E0"/>
            </a:solidFill>
            <a:prstDash val="dash"/>
          </a:ln>
        </p:spPr>
      </p:sp>
      <p:sp>
        <p:nvSpPr>
          <p:cNvPr id="11" name="pss_test_portability text 8"/>
          <p:cNvSpPr txBox="1"/>
          <p:nvPr/>
        </p:nvSpPr>
        <p:spPr>
          <a:xfrm>
            <a:off x="2555176" y="2792329"/>
            <a:ext cx="1534136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CSR, SZ, SRC, DST</a:t>
            </a:r>
            <a:endParaRPr lang="en-US" sz="1019" dirty="0"/>
          </a:p>
        </p:txBody>
      </p:sp>
      <p:sp>
        <p:nvSpPr>
          <p:cNvPr id="12" name="pss_test_portability shape 9"/>
          <p:cNvSpPr/>
          <p:nvPr/>
        </p:nvSpPr>
        <p:spPr>
          <a:xfrm>
            <a:off x="964681" y="3961310"/>
            <a:ext cx="2126430" cy="110944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13" name="pss_test_portability text 10"/>
          <p:cNvSpPr txBox="1"/>
          <p:nvPr/>
        </p:nvSpPr>
        <p:spPr>
          <a:xfrm>
            <a:off x="1524875" y="4069296"/>
            <a:ext cx="1006042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uart_tx_a</a:t>
            </a:r>
            <a:endParaRPr lang="en-US" sz="1238" dirty="0"/>
          </a:p>
        </p:txBody>
      </p:sp>
      <p:sp>
        <p:nvSpPr>
          <p:cNvPr id="14" name="pss_test_portability line 11"/>
          <p:cNvSpPr/>
          <p:nvPr/>
        </p:nvSpPr>
        <p:spPr>
          <a:xfrm>
            <a:off x="1149587" y="4331124"/>
            <a:ext cx="1756616" cy="0"/>
          </a:xfrm>
          <a:prstGeom prst="line">
            <a:avLst/>
          </a:prstGeom>
          <a:noFill/>
          <a:ln w="9245">
            <a:solidFill>
              <a:srgbClr val="CBD5E0"/>
            </a:solidFill>
            <a:prstDash val="solid"/>
          </a:ln>
        </p:spPr>
      </p:sp>
      <p:sp>
        <p:nvSpPr>
          <p:cNvPr id="15" name="pss_test_portability text 12"/>
          <p:cNvSpPr txBox="1"/>
          <p:nvPr/>
        </p:nvSpPr>
        <p:spPr>
          <a:xfrm>
            <a:off x="1391298" y="4428755"/>
            <a:ext cx="1273195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baud, len</a:t>
            </a:r>
            <a:endParaRPr lang="en-US" sz="1019" dirty="0"/>
          </a:p>
        </p:txBody>
      </p:sp>
      <p:sp>
        <p:nvSpPr>
          <p:cNvPr id="16" name="pss_test_portability line 13"/>
          <p:cNvSpPr/>
          <p:nvPr/>
        </p:nvSpPr>
        <p:spPr>
          <a:xfrm>
            <a:off x="1149587" y="4682447"/>
            <a:ext cx="1756616" cy="0"/>
          </a:xfrm>
          <a:prstGeom prst="line">
            <a:avLst/>
          </a:prstGeom>
          <a:noFill/>
          <a:ln w="9245">
            <a:solidFill>
              <a:srgbClr val="CBD5E0"/>
            </a:solidFill>
            <a:prstDash val="dash"/>
          </a:ln>
        </p:spPr>
      </p:sp>
      <p:sp>
        <p:nvSpPr>
          <p:cNvPr id="17" name="pss_test_portability text 14"/>
          <p:cNvSpPr txBox="1"/>
          <p:nvPr/>
        </p:nvSpPr>
        <p:spPr>
          <a:xfrm>
            <a:off x="1434788" y="4780078"/>
            <a:ext cx="1186215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LCR, DLL, THR</a:t>
            </a:r>
            <a:endParaRPr lang="en-US" sz="1019" dirty="0"/>
          </a:p>
        </p:txBody>
      </p:sp>
      <p:sp>
        <p:nvSpPr>
          <p:cNvPr id="18" name="pss_test_portability shape 15"/>
          <p:cNvSpPr/>
          <p:nvPr/>
        </p:nvSpPr>
        <p:spPr>
          <a:xfrm>
            <a:off x="3553377" y="3961310"/>
            <a:ext cx="2126430" cy="110944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19" name="pss_test_portability text 16"/>
          <p:cNvSpPr txBox="1"/>
          <p:nvPr/>
        </p:nvSpPr>
        <p:spPr>
          <a:xfrm>
            <a:off x="4060762" y="4069296"/>
            <a:ext cx="1111660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tmr_wait_a</a:t>
            </a:r>
            <a:endParaRPr lang="en-US" sz="1238" dirty="0"/>
          </a:p>
        </p:txBody>
      </p:sp>
      <p:sp>
        <p:nvSpPr>
          <p:cNvPr id="20" name="pss_test_portability line 17"/>
          <p:cNvSpPr/>
          <p:nvPr/>
        </p:nvSpPr>
        <p:spPr>
          <a:xfrm>
            <a:off x="3738284" y="4331124"/>
            <a:ext cx="1756616" cy="0"/>
          </a:xfrm>
          <a:prstGeom prst="line">
            <a:avLst/>
          </a:prstGeom>
          <a:noFill/>
          <a:ln w="9245">
            <a:solidFill>
              <a:srgbClr val="CBD5E0"/>
            </a:solidFill>
            <a:prstDash val="solid"/>
          </a:ln>
        </p:spPr>
      </p:sp>
      <p:sp>
        <p:nvSpPr>
          <p:cNvPr id="21" name="pss_test_portability text 18"/>
          <p:cNvSpPr txBox="1"/>
          <p:nvPr/>
        </p:nvSpPr>
        <p:spPr>
          <a:xfrm>
            <a:off x="4153955" y="4428755"/>
            <a:ext cx="92527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ticks</a:t>
            </a:r>
            <a:endParaRPr lang="en-US" sz="1019" dirty="0"/>
          </a:p>
        </p:txBody>
      </p:sp>
      <p:sp>
        <p:nvSpPr>
          <p:cNvPr id="22" name="pss_test_portability line 19"/>
          <p:cNvSpPr/>
          <p:nvPr/>
        </p:nvSpPr>
        <p:spPr>
          <a:xfrm>
            <a:off x="3738284" y="4682447"/>
            <a:ext cx="1756616" cy="0"/>
          </a:xfrm>
          <a:prstGeom prst="line">
            <a:avLst/>
          </a:prstGeom>
          <a:noFill/>
          <a:ln w="9245">
            <a:solidFill>
              <a:srgbClr val="CBD5E0"/>
            </a:solidFill>
            <a:prstDash val="dash"/>
          </a:ln>
        </p:spPr>
      </p:sp>
      <p:sp>
        <p:nvSpPr>
          <p:cNvPr id="23" name="pss_test_portability text 20"/>
          <p:cNvSpPr txBox="1"/>
          <p:nvPr/>
        </p:nvSpPr>
        <p:spPr>
          <a:xfrm>
            <a:off x="3936505" y="4780078"/>
            <a:ext cx="1360175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LOAD, CTRL, STS</a:t>
            </a:r>
            <a:endParaRPr lang="en-US" sz="1019" dirty="0"/>
          </a:p>
        </p:txBody>
      </p:sp>
      <p:sp>
        <p:nvSpPr>
          <p:cNvPr id="24" name="pss_test_portability line 21"/>
          <p:cNvSpPr/>
          <p:nvPr/>
        </p:nvSpPr>
        <p:spPr>
          <a:xfrm flipH="1">
            <a:off x="2120349" y="3083002"/>
            <a:ext cx="924535" cy="841326"/>
          </a:xfrm>
          <a:prstGeom prst="line">
            <a:avLst/>
          </a:prstGeom>
          <a:noFill/>
          <a:ln w="1849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5" name="pss_test_portability line 22"/>
          <p:cNvSpPr/>
          <p:nvPr/>
        </p:nvSpPr>
        <p:spPr>
          <a:xfrm>
            <a:off x="3599604" y="3083002"/>
            <a:ext cx="924535" cy="841326"/>
          </a:xfrm>
          <a:prstGeom prst="line">
            <a:avLst/>
          </a:prstGeom>
          <a:noFill/>
          <a:ln w="1849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6" name="pss_test_portability text 23"/>
          <p:cNvSpPr txBox="1"/>
          <p:nvPr/>
        </p:nvSpPr>
        <p:spPr>
          <a:xfrm>
            <a:off x="1549105" y="5223855"/>
            <a:ext cx="3546278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(random)  +  register programming</a:t>
            </a:r>
            <a:endParaRPr lang="en-US" sz="1019" dirty="0"/>
          </a:p>
        </p:txBody>
      </p:sp>
      <p:sp>
        <p:nvSpPr>
          <p:cNvPr id="27" name="pss_test_portability box 24"/>
          <p:cNvSpPr/>
          <p:nvPr/>
        </p:nvSpPr>
        <p:spPr>
          <a:xfrm>
            <a:off x="6465661" y="3036776"/>
            <a:ext cx="1571709" cy="73962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 w="18491">
            <a:solidFill>
              <a:srgbClr val="1A202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310" dirty="0"/>
          </a:p>
        </p:txBody>
      </p:sp>
      <p:sp>
        <p:nvSpPr>
          <p:cNvPr id="28" name="pss_test_portability line 25"/>
          <p:cNvSpPr/>
          <p:nvPr/>
        </p:nvSpPr>
        <p:spPr>
          <a:xfrm>
            <a:off x="5910941" y="3406590"/>
            <a:ext cx="517739" cy="0"/>
          </a:xfrm>
          <a:prstGeom prst="line">
            <a:avLst/>
          </a:prstGeom>
          <a:noFill/>
          <a:ln w="1849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9" name="pss_test_portability box 26"/>
          <p:cNvSpPr/>
          <p:nvPr/>
        </p:nvSpPr>
        <p:spPr>
          <a:xfrm>
            <a:off x="8684544" y="1649974"/>
            <a:ext cx="2681150" cy="739628"/>
          </a:xfrm>
          <a:prstGeom prst="roundRect">
            <a:avLst>
              <a:gd name="adj" fmla="val 12500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 / UVM test</a:t>
            </a:r>
            <a:endParaRPr lang="en-US" sz="1238" dirty="0"/>
          </a:p>
        </p:txBody>
      </p:sp>
      <p:sp>
        <p:nvSpPr>
          <p:cNvPr id="30" name="pss_test_portability line 27"/>
          <p:cNvSpPr/>
          <p:nvPr/>
        </p:nvSpPr>
        <p:spPr>
          <a:xfrm flipV="1">
            <a:off x="8037370" y="2019788"/>
            <a:ext cx="610193" cy="1386802"/>
          </a:xfrm>
          <a:prstGeom prst="line">
            <a:avLst/>
          </a:prstGeom>
          <a:noFill/>
          <a:ln w="18491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31" name="pss_test_portability box 28"/>
          <p:cNvSpPr/>
          <p:nvPr/>
        </p:nvSpPr>
        <p:spPr>
          <a:xfrm>
            <a:off x="8684544" y="2620735"/>
            <a:ext cx="2681150" cy="739628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test on the core</a:t>
            </a:r>
            <a:endParaRPr lang="en-US" sz="1238" dirty="0"/>
          </a:p>
        </p:txBody>
      </p:sp>
      <p:sp>
        <p:nvSpPr>
          <p:cNvPr id="32" name="pss_test_portability line 29"/>
          <p:cNvSpPr/>
          <p:nvPr/>
        </p:nvSpPr>
        <p:spPr>
          <a:xfrm flipV="1">
            <a:off x="8037370" y="2990549"/>
            <a:ext cx="610193" cy="416041"/>
          </a:xfrm>
          <a:prstGeom prst="line">
            <a:avLst/>
          </a:prstGeom>
          <a:noFill/>
          <a:ln w="18491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33" name="pss_test_portability box 30"/>
          <p:cNvSpPr/>
          <p:nvPr/>
        </p:nvSpPr>
        <p:spPr>
          <a:xfrm>
            <a:off x="8684544" y="3591497"/>
            <a:ext cx="2681150" cy="739628"/>
          </a:xfrm>
          <a:prstGeom prst="roundRect">
            <a:avLst>
              <a:gd name="adj" fmla="val 12500"/>
            </a:avLst>
          </a:prstGeom>
          <a:solidFill>
            <a:srgbClr val="FFF8E6"/>
          </a:solidFill>
          <a:ln w="18491">
            <a:solidFill>
              <a:srgbClr val="B7791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test in the lab</a:t>
            </a:r>
            <a:endParaRPr lang="en-US" sz="1238" dirty="0"/>
          </a:p>
        </p:txBody>
      </p:sp>
      <p:sp>
        <p:nvSpPr>
          <p:cNvPr id="34" name="pss_test_portability line 31"/>
          <p:cNvSpPr/>
          <p:nvPr/>
        </p:nvSpPr>
        <p:spPr>
          <a:xfrm>
            <a:off x="8037370" y="3406590"/>
            <a:ext cx="610193" cy="554721"/>
          </a:xfrm>
          <a:prstGeom prst="line">
            <a:avLst/>
          </a:prstGeom>
          <a:noFill/>
          <a:ln w="18491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35" name="pss_test_portability box 32"/>
          <p:cNvSpPr/>
          <p:nvPr/>
        </p:nvSpPr>
        <p:spPr>
          <a:xfrm>
            <a:off x="8684544" y="4562258"/>
            <a:ext cx="2681150" cy="739628"/>
          </a:xfrm>
          <a:prstGeom prst="roundRect">
            <a:avLst>
              <a:gd name="adj" fmla="val 12500"/>
            </a:avLst>
          </a:prstGeom>
          <a:solidFill>
            <a:srgbClr val="F1F3F5"/>
          </a:solidFill>
          <a:ln w="18491">
            <a:solidFill>
              <a:srgbClr val="4A556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238" dirty="0"/>
          </a:p>
        </p:txBody>
      </p:sp>
      <p:sp>
        <p:nvSpPr>
          <p:cNvPr id="36" name="pss_test_portability line 33"/>
          <p:cNvSpPr/>
          <p:nvPr/>
        </p:nvSpPr>
        <p:spPr>
          <a:xfrm>
            <a:off x="8037370" y="3406590"/>
            <a:ext cx="610193" cy="1525482"/>
          </a:xfrm>
          <a:prstGeom prst="line">
            <a:avLst/>
          </a:prstGeom>
          <a:noFill/>
          <a:ln w="18491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key pieces in every action</a:t>
            </a:r>
            <a:endParaRPr lang="en-US" sz="3200" dirty="0"/>
          </a:p>
        </p:txBody>
      </p:sp>
      <p:sp>
        <p:nvSpPr>
          <p:cNvPr id="3" name="two_pieces shape 1"/>
          <p:cNvSpPr/>
          <p:nvPr/>
        </p:nvSpPr>
        <p:spPr>
          <a:xfrm>
            <a:off x="733547" y="1465067"/>
            <a:ext cx="10724601" cy="3143418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4" name="two_pieces text 2"/>
          <p:cNvSpPr txBox="1"/>
          <p:nvPr/>
        </p:nvSpPr>
        <p:spPr>
          <a:xfrm>
            <a:off x="4038573" y="1620389"/>
            <a:ext cx="4114549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action, two very different jobs</a:t>
            </a:r>
            <a:endParaRPr lang="en-US" sz="1456" dirty="0"/>
          </a:p>
        </p:txBody>
      </p:sp>
      <p:sp>
        <p:nvSpPr>
          <p:cNvPr id="5" name="two_pieces box 3"/>
          <p:cNvSpPr/>
          <p:nvPr/>
        </p:nvSpPr>
        <p:spPr>
          <a:xfrm>
            <a:off x="1103361" y="2112241"/>
            <a:ext cx="4622673" cy="2218883"/>
          </a:xfrm>
          <a:prstGeom prst="roundRect">
            <a:avLst>
              <a:gd name="adj" fmla="val 4167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27736" rIns="73963" bIns="36981" rtlCol="0" anchor="t"/>
          <a:lstStyle/>
          <a:p>
            <a:pPr algn="l" indent="0" marL="0">
              <a:lnSpc>
                <a:spcPts val="2184"/>
              </a:lnSpc>
              <a:buNone/>
            </a:pPr>
            <a:r>
              <a:rPr lang="en-US" sz="1238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 (decide)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to do, in what order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choices under constraints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resources, data flow, scheduling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test-specific; changes per test</a:t>
            </a:r>
            <a:endParaRPr lang="en-US" sz="1238" dirty="0"/>
          </a:p>
        </p:txBody>
      </p:sp>
      <p:sp>
        <p:nvSpPr>
          <p:cNvPr id="6" name="two_pieces box 4"/>
          <p:cNvSpPr/>
          <p:nvPr/>
        </p:nvSpPr>
        <p:spPr>
          <a:xfrm>
            <a:off x="6465661" y="2112241"/>
            <a:ext cx="4622673" cy="2218883"/>
          </a:xfrm>
          <a:prstGeom prst="roundRect">
            <a:avLst>
              <a:gd name="adj" fmla="val 4167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120189" tIns="27736" rIns="73963" bIns="36981" rtlCol="0" anchor="t"/>
          <a:lstStyle/>
          <a:p>
            <a:pPr algn="l" indent="0" marL="0">
              <a:lnSpc>
                <a:spcPts val="2184"/>
              </a:lnSpc>
              <a:buNone/>
            </a:pPr>
            <a:r>
              <a:rPr lang="en-US" sz="1238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Realization  (do)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 make the device do it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register/memory programming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waiting for completion, errors</a:t>
            </a: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endParaRPr lang="en-US" sz="1238" dirty="0"/>
          </a:p>
          <a:p>
            <a:pPr algn="l" indent="0" marL="0">
              <a:lnSpc>
                <a:spcPts val="2184"/>
              </a:lnSpc>
              <a:buNone/>
            </a:pPr>
            <a:r>
              <a:rPr lang="en-US" sz="1238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device-specific; same for everyone</a:t>
            </a:r>
            <a:endParaRPr lang="en-US" sz="1238" dirty="0"/>
          </a:p>
        </p:txBody>
      </p:sp>
      <p:sp>
        <p:nvSpPr>
          <p:cNvPr id="7" name="two_pieces line 5"/>
          <p:cNvSpPr/>
          <p:nvPr/>
        </p:nvSpPr>
        <p:spPr>
          <a:xfrm>
            <a:off x="5726034" y="3221683"/>
            <a:ext cx="702646" cy="0"/>
          </a:xfrm>
          <a:prstGeom prst="line">
            <a:avLst/>
          </a:prstGeom>
          <a:noFill/>
          <a:ln w="1849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8" name="two_pieces text 6"/>
          <p:cNvSpPr txBox="1"/>
          <p:nvPr/>
        </p:nvSpPr>
        <p:spPr>
          <a:xfrm>
            <a:off x="5846667" y="3004972"/>
            <a:ext cx="461380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019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0551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Scenario / decision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realization</a:t>
            </a:r>
            <a:r>
              <a:rPr lang="en-US" sz="1800" dirty="0">
                <a:solidFill>
                  <a:schemeClr val="tx1"/>
                </a:solidFill>
              </a:rPr>
              <a:t> (device driver, device utility).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 elements, briefly</a:t>
            </a:r>
            <a:endParaRPr lang="en-US" sz="3200" dirty="0"/>
          </a:p>
        </p:txBody>
      </p:sp>
      <p:sp>
        <p:nvSpPr>
          <p:cNvPr id="3" name="pss_elements box 1"/>
          <p:cNvSpPr/>
          <p:nvPr/>
        </p:nvSpPr>
        <p:spPr>
          <a:xfrm>
            <a:off x="733547" y="1465067"/>
            <a:ext cx="3420778" cy="3605685"/>
          </a:xfrm>
          <a:prstGeom prst="roundRect">
            <a:avLst>
              <a:gd name="adj" fmla="val 2703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pss_elements text 2"/>
          <p:cNvSpPr txBox="1"/>
          <p:nvPr/>
        </p:nvSpPr>
        <p:spPr>
          <a:xfrm>
            <a:off x="1604385" y="1620389"/>
            <a:ext cx="1679103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tree</a:t>
            </a:r>
            <a:endParaRPr lang="en-US" sz="1456" dirty="0"/>
          </a:p>
        </p:txBody>
      </p:sp>
      <p:sp>
        <p:nvSpPr>
          <p:cNvPr id="5" name="pss_elements text 3"/>
          <p:cNvSpPr txBox="1"/>
          <p:nvPr/>
        </p:nvSpPr>
        <p:spPr>
          <a:xfrm>
            <a:off x="2024789" y="1886655"/>
            <a:ext cx="838294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92" dirty="0"/>
          </a:p>
        </p:txBody>
      </p:sp>
      <p:sp>
        <p:nvSpPr>
          <p:cNvPr id="6" name="pss_elements text 4"/>
          <p:cNvSpPr txBox="1"/>
          <p:nvPr/>
        </p:nvSpPr>
        <p:spPr>
          <a:xfrm>
            <a:off x="918454" y="2243525"/>
            <a:ext cx="1826141" cy="122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pss_top {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dma_c   dma;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uart_c  uart[2];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timer_c tmr;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2" dirty="0"/>
          </a:p>
        </p:txBody>
      </p:sp>
      <p:sp>
        <p:nvSpPr>
          <p:cNvPr id="7" name="pss_elements line 5"/>
          <p:cNvSpPr/>
          <p:nvPr/>
        </p:nvSpPr>
        <p:spPr>
          <a:xfrm>
            <a:off x="918454" y="4053764"/>
            <a:ext cx="3050964" cy="0"/>
          </a:xfrm>
          <a:prstGeom prst="line">
            <a:avLst/>
          </a:prstGeom>
          <a:noFill/>
          <a:ln w="9245">
            <a:solidFill>
              <a:srgbClr val="2B6CB0">
                <a:alpha val="40000"/>
              </a:srgbClr>
            </a:solidFill>
            <a:prstDash val="solid"/>
          </a:ln>
        </p:spPr>
      </p:sp>
      <p:sp>
        <p:nvSpPr>
          <p:cNvPr id="8" name="pss_elements text 6"/>
          <p:cNvSpPr txBox="1"/>
          <p:nvPr/>
        </p:nvSpPr>
        <p:spPr>
          <a:xfrm>
            <a:off x="918454" y="4153614"/>
            <a:ext cx="2664879" cy="462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structure: instances,</a:t>
            </a: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resources, register banks</a:t>
            </a:r>
            <a:endParaRPr lang="en-US" sz="1092" dirty="0"/>
          </a:p>
        </p:txBody>
      </p:sp>
      <p:sp>
        <p:nvSpPr>
          <p:cNvPr id="9" name="pss_elements box 7"/>
          <p:cNvSpPr/>
          <p:nvPr/>
        </p:nvSpPr>
        <p:spPr>
          <a:xfrm>
            <a:off x="4385459" y="1465067"/>
            <a:ext cx="3420778" cy="3605685"/>
          </a:xfrm>
          <a:prstGeom prst="roundRect">
            <a:avLst>
              <a:gd name="adj" fmla="val 2703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0" name="pss_elements text 8"/>
          <p:cNvSpPr txBox="1"/>
          <p:nvPr/>
        </p:nvSpPr>
        <p:spPr>
          <a:xfrm>
            <a:off x="5662204" y="1620389"/>
            <a:ext cx="867287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456" dirty="0"/>
          </a:p>
        </p:txBody>
      </p:sp>
      <p:sp>
        <p:nvSpPr>
          <p:cNvPr id="11" name="pss_elements text 9"/>
          <p:cNvSpPr txBox="1"/>
          <p:nvPr/>
        </p:nvSpPr>
        <p:spPr>
          <a:xfrm>
            <a:off x="5024349" y="1886655"/>
            <a:ext cx="2142997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flow + choices</a:t>
            </a:r>
            <a:endParaRPr lang="en-US" sz="1092" dirty="0"/>
          </a:p>
        </p:txBody>
      </p:sp>
      <p:sp>
        <p:nvSpPr>
          <p:cNvPr id="12" name="pss_elements text 10"/>
          <p:cNvSpPr txBox="1"/>
          <p:nvPr/>
        </p:nvSpPr>
        <p:spPr>
          <a:xfrm>
            <a:off x="4570366" y="2243525"/>
            <a:ext cx="1919334" cy="146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dma_xfer_a {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buf_s src;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buf_s dst;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lock   chan_r ch;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 bit[16] size;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2" dirty="0"/>
          </a:p>
        </p:txBody>
      </p:sp>
      <p:sp>
        <p:nvSpPr>
          <p:cNvPr id="13" name="pss_elements line 11"/>
          <p:cNvSpPr/>
          <p:nvPr/>
        </p:nvSpPr>
        <p:spPr>
          <a:xfrm>
            <a:off x="4570366" y="4053764"/>
            <a:ext cx="3050964" cy="0"/>
          </a:xfrm>
          <a:prstGeom prst="line">
            <a:avLst/>
          </a:prstGeom>
          <a:noFill/>
          <a:ln w="9245">
            <a:solidFill>
              <a:srgbClr val="2B6CB0">
                <a:alpha val="40000"/>
              </a:srgbClr>
            </a:solidFill>
            <a:prstDash val="solid"/>
          </a:ln>
        </p:spPr>
      </p:sp>
      <p:sp>
        <p:nvSpPr>
          <p:cNvPr id="14" name="pss_elements text 12"/>
          <p:cNvSpPr txBox="1"/>
          <p:nvPr/>
        </p:nvSpPr>
        <p:spPr>
          <a:xfrm>
            <a:off x="4570366" y="4153614"/>
            <a:ext cx="3099780" cy="462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data-flow + resource relationships;</a:t>
            </a: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random choices</a:t>
            </a:r>
            <a:endParaRPr lang="en-US" sz="1092" dirty="0"/>
          </a:p>
        </p:txBody>
      </p:sp>
      <p:sp>
        <p:nvSpPr>
          <p:cNvPr id="15" name="pss_elements box 13"/>
          <p:cNvSpPr/>
          <p:nvPr/>
        </p:nvSpPr>
        <p:spPr>
          <a:xfrm>
            <a:off x="8037370" y="1465067"/>
            <a:ext cx="3420778" cy="3605685"/>
          </a:xfrm>
          <a:prstGeom prst="roundRect">
            <a:avLst>
              <a:gd name="adj" fmla="val 2703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pss_elements text 14"/>
          <p:cNvSpPr txBox="1"/>
          <p:nvPr/>
        </p:nvSpPr>
        <p:spPr>
          <a:xfrm>
            <a:off x="8850221" y="1620389"/>
            <a:ext cx="1795076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code</a:t>
            </a:r>
            <a:endParaRPr lang="en-US" sz="1456" dirty="0"/>
          </a:p>
        </p:txBody>
      </p:sp>
      <p:sp>
        <p:nvSpPr>
          <p:cNvPr id="17" name="pss_elements text 15"/>
          <p:cNvSpPr txBox="1"/>
          <p:nvPr/>
        </p:nvSpPr>
        <p:spPr>
          <a:xfrm>
            <a:off x="9241632" y="1886655"/>
            <a:ext cx="1012254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i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realization</a:t>
            </a:r>
            <a:endParaRPr lang="en-US" sz="1092" dirty="0"/>
          </a:p>
        </p:txBody>
      </p:sp>
      <p:sp>
        <p:nvSpPr>
          <p:cNvPr id="18" name="pss_elements text 16"/>
          <p:cNvSpPr txBox="1"/>
          <p:nvPr/>
        </p:nvSpPr>
        <p:spPr>
          <a:xfrm>
            <a:off x="8222277" y="2243525"/>
            <a:ext cx="2944458" cy="146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body {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comp.regs.sz.write_val(size);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comp.regs.csr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.write_field("en", 1);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plat_wait_irq();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2" dirty="0"/>
          </a:p>
        </p:txBody>
      </p:sp>
      <p:sp>
        <p:nvSpPr>
          <p:cNvPr id="19" name="pss_elements line 17"/>
          <p:cNvSpPr/>
          <p:nvPr/>
        </p:nvSpPr>
        <p:spPr>
          <a:xfrm>
            <a:off x="8222277" y="4053764"/>
            <a:ext cx="3050964" cy="0"/>
          </a:xfrm>
          <a:prstGeom prst="line">
            <a:avLst/>
          </a:prstGeom>
          <a:noFill/>
          <a:ln w="9245">
            <a:solidFill>
              <a:srgbClr val="9C4221">
                <a:alpha val="40000"/>
              </a:srgbClr>
            </a:solidFill>
            <a:prstDash val="solid"/>
          </a:ln>
        </p:spPr>
      </p:sp>
      <p:sp>
        <p:nvSpPr>
          <p:cNvPr id="20" name="pss_elements text 18"/>
          <p:cNvSpPr txBox="1"/>
          <p:nvPr/>
        </p:nvSpPr>
        <p:spPr>
          <a:xfrm>
            <a:off x="8222277" y="4153614"/>
            <a:ext cx="2490918" cy="462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092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out decisions: calls</a:t>
            </a: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92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touches registers</a:t>
            </a:r>
            <a:endParaRPr lang="en-US" sz="1092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a </a:t>
            </a:r>
            <a:r>
              <a:rPr lang="en-US" sz="3200" b="1" i="1" dirty="0">
                <a:solidFill>
                  <a:schemeClr val="tx2"/>
                </a:solidFill>
              </a:rPr>
              <a:t>test</a:t>
            </a:r>
            <a:r>
              <a:rPr lang="en-US" sz="3200" b="1" dirty="0">
                <a:solidFill>
                  <a:schemeClr val="tx2"/>
                </a:solidFill>
              </a:rPr>
              <a:t>?</a:t>
            </a:r>
            <a:endParaRPr lang="en-US" sz="3200" dirty="0"/>
          </a:p>
        </p:txBody>
      </p:sp>
      <p:sp>
        <p:nvSpPr>
          <p:cNvPr id="3" name="test trait 0"/>
          <p:cNvSpPr/>
          <p:nvPr/>
        </p:nvSpPr>
        <p:spPr>
          <a:xfrm>
            <a:off x="548640" y="146304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Limited parameterization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seed and a few knobs, not an API</a:t>
            </a:r>
            <a:endParaRPr lang="en-US" sz="1700" dirty="0"/>
          </a:p>
        </p:txBody>
      </p:sp>
      <p:sp>
        <p:nvSpPr>
          <p:cNvPr id="6" name="test trait 1"/>
          <p:cNvSpPr/>
          <p:nvPr/>
        </p:nvSpPr>
        <p:spPr>
          <a:xfrm>
            <a:off x="4338218" y="146304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737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Autonomous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331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Exercises the design within the given parameters and checks as it goes</a:t>
            </a:r>
            <a:endParaRPr lang="en-US" sz="1700" dirty="0"/>
          </a:p>
        </p:txBody>
      </p:sp>
      <p:sp>
        <p:nvSpPr>
          <p:cNvPr id="9" name="test trait 2"/>
          <p:cNvSpPr/>
          <p:nvPr/>
        </p:nvSpPr>
        <p:spPr>
          <a:xfrm>
            <a:off x="8127797" y="146304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737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Clear pass/fail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331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verdict at the 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 test is one </a:t>
            </a:r>
            <a:r>
              <a:rPr lang="en-US" sz="2200" b="1" i="1" dirty="0">
                <a:solidFill>
                  <a:schemeClr val="accent2"/>
                </a:solidFill>
              </a:rPr>
              <a:t>consumer</a:t>
            </a:r>
            <a:r>
              <a:rPr lang="en-US" sz="2200" b="1" dirty="0">
                <a:solidFill>
                  <a:schemeClr val="accent2"/>
                </a:solidFill>
              </a:rPr>
              <a:t> of device knowledge, and not the most common 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 adoption: requirements vs. reality</a:t>
            </a:r>
            <a:endParaRPr lang="en-US" sz="3200" dirty="0"/>
          </a:p>
        </p:txBody>
      </p:sp>
      <p:sp>
        <p:nvSpPr>
          <p:cNvPr id="3" name="adoption_gap text 1"/>
          <p:cNvSpPr txBox="1"/>
          <p:nvPr/>
        </p:nvSpPr>
        <p:spPr>
          <a:xfrm>
            <a:off x="3922600" y="1416991"/>
            <a:ext cx="4346496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device-programming content?</a:t>
            </a:r>
            <a:endParaRPr lang="en-US" sz="1456" dirty="0"/>
          </a:p>
        </p:txBody>
      </p:sp>
      <p:sp>
        <p:nvSpPr>
          <p:cNvPr id="4" name="adoption_gap shape 2"/>
          <p:cNvSpPr/>
          <p:nvPr/>
        </p:nvSpPr>
        <p:spPr>
          <a:xfrm>
            <a:off x="918454" y="1834881"/>
            <a:ext cx="2126430" cy="739628"/>
          </a:xfrm>
          <a:prstGeom prst="roundRect">
            <a:avLst>
              <a:gd name="adj" fmla="val 7500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</p:sp>
      <p:sp>
        <p:nvSpPr>
          <p:cNvPr id="5" name="adoption_gap text 3"/>
          <p:cNvSpPr txBox="1"/>
          <p:nvPr/>
        </p:nvSpPr>
        <p:spPr>
          <a:xfrm>
            <a:off x="1536428" y="2127404"/>
            <a:ext cx="890482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 tests</a:t>
            </a:r>
            <a:endParaRPr lang="en-US" sz="1165" dirty="0"/>
          </a:p>
        </p:txBody>
      </p:sp>
      <p:sp>
        <p:nvSpPr>
          <p:cNvPr id="6" name="adoption_gap shape 4"/>
          <p:cNvSpPr/>
          <p:nvPr/>
        </p:nvSpPr>
        <p:spPr>
          <a:xfrm>
            <a:off x="3081865" y="1834881"/>
            <a:ext cx="1941523" cy="739628"/>
          </a:xfrm>
          <a:prstGeom prst="roundRect">
            <a:avLst>
              <a:gd name="adj" fmla="val 7500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</p:sp>
      <p:sp>
        <p:nvSpPr>
          <p:cNvPr id="7" name="adoption_gap text 5"/>
          <p:cNvSpPr txBox="1"/>
          <p:nvPr/>
        </p:nvSpPr>
        <p:spPr>
          <a:xfrm>
            <a:off x="3421827" y="2127404"/>
            <a:ext cx="126159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UVM sequences</a:t>
            </a:r>
            <a:endParaRPr lang="en-US" sz="1165" dirty="0"/>
          </a:p>
        </p:txBody>
      </p:sp>
      <p:sp>
        <p:nvSpPr>
          <p:cNvPr id="8" name="adoption_gap shape 6"/>
          <p:cNvSpPr/>
          <p:nvPr/>
        </p:nvSpPr>
        <p:spPr>
          <a:xfrm>
            <a:off x="5060369" y="1834881"/>
            <a:ext cx="2403790" cy="739628"/>
          </a:xfrm>
          <a:prstGeom prst="roundRect">
            <a:avLst>
              <a:gd name="adj" fmla="val 7500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</p:sp>
      <p:sp>
        <p:nvSpPr>
          <p:cNvPr id="9" name="adoption_gap text 7"/>
          <p:cNvSpPr txBox="1"/>
          <p:nvPr/>
        </p:nvSpPr>
        <p:spPr>
          <a:xfrm>
            <a:off x="5399518" y="2127404"/>
            <a:ext cx="1725492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/ drivers</a:t>
            </a:r>
            <a:endParaRPr lang="en-US" sz="1165" dirty="0"/>
          </a:p>
        </p:txBody>
      </p:sp>
      <p:sp>
        <p:nvSpPr>
          <p:cNvPr id="10" name="adoption_gap shape 8"/>
          <p:cNvSpPr/>
          <p:nvPr/>
        </p:nvSpPr>
        <p:spPr>
          <a:xfrm>
            <a:off x="7501140" y="1834881"/>
            <a:ext cx="1849069" cy="739628"/>
          </a:xfrm>
          <a:prstGeom prst="roundRect">
            <a:avLst>
              <a:gd name="adj" fmla="val 7500"/>
            </a:avLst>
          </a:prstGeom>
          <a:solidFill>
            <a:srgbClr val="E6FFFA"/>
          </a:solidFill>
          <a:ln w="18491">
            <a:solidFill>
              <a:srgbClr val="2C7A7B"/>
            </a:solidFill>
            <a:prstDash val="solid"/>
          </a:ln>
        </p:spPr>
      </p:sp>
      <p:sp>
        <p:nvSpPr>
          <p:cNvPr id="11" name="adoption_gap text 9"/>
          <p:cNvSpPr txBox="1"/>
          <p:nvPr/>
        </p:nvSpPr>
        <p:spPr>
          <a:xfrm>
            <a:off x="7562929" y="2127404"/>
            <a:ext cx="1725492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1D4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emulation bring-up</a:t>
            </a:r>
            <a:endParaRPr lang="en-US" sz="1165" dirty="0"/>
          </a:p>
        </p:txBody>
      </p:sp>
      <p:sp>
        <p:nvSpPr>
          <p:cNvPr id="12" name="adoption_gap shape 10"/>
          <p:cNvSpPr/>
          <p:nvPr/>
        </p:nvSpPr>
        <p:spPr>
          <a:xfrm>
            <a:off x="9387191" y="1834881"/>
            <a:ext cx="1849069" cy="739628"/>
          </a:xfrm>
          <a:prstGeom prst="roundRect">
            <a:avLst>
              <a:gd name="adj" fmla="val 7500"/>
            </a:avLst>
          </a:prstGeom>
          <a:solidFill>
            <a:srgbClr val="FFF8E6"/>
          </a:solidFill>
          <a:ln w="18491">
            <a:solidFill>
              <a:srgbClr val="B7791F"/>
            </a:solidFill>
            <a:prstDash val="solid"/>
          </a:ln>
        </p:spPr>
      </p:sp>
      <p:sp>
        <p:nvSpPr>
          <p:cNvPr id="13" name="adoption_gap text 11"/>
          <p:cNvSpPr txBox="1"/>
          <p:nvPr/>
        </p:nvSpPr>
        <p:spPr>
          <a:xfrm>
            <a:off x="9773705" y="2127404"/>
            <a:ext cx="1076040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scripts</a:t>
            </a:r>
            <a:endParaRPr lang="en-US" sz="1165" dirty="0"/>
          </a:p>
        </p:txBody>
      </p:sp>
      <p:sp>
        <p:nvSpPr>
          <p:cNvPr id="14" name="adoption_gap connector 12"/>
          <p:cNvSpPr/>
          <p:nvPr/>
        </p:nvSpPr>
        <p:spPr>
          <a:xfrm>
            <a:off x="918454" y="2759415"/>
            <a:ext cx="2126430" cy="138680"/>
          </a:xfrm>
          <a:custGeom>
            <a:avLst/>
            <a:gdLst/>
            <a:ahLst/>
            <a:cxnLst/>
            <a:rect l="l" t="t" r="r" b="b"/>
            <a:pathLst>
              <a:path w="2126430" h="138680">
                <a:moveTo>
                  <a:pt x="0" y="0"/>
                </a:moveTo>
                <a:lnTo>
                  <a:pt x="0" y="138680"/>
                </a:lnTo>
                <a:lnTo>
                  <a:pt x="2126430" y="138680"/>
                </a:lnTo>
                <a:lnTo>
                  <a:pt x="2126430" y="0"/>
                </a:lnTo>
              </a:path>
            </a:pathLst>
          </a:custGeom>
          <a:ln w="18491">
            <a:solidFill>
              <a:srgbClr val="2B6CB0"/>
            </a:solidFill>
            <a:prstDash val="solid"/>
          </a:ln>
        </p:spPr>
      </p:sp>
      <p:sp>
        <p:nvSpPr>
          <p:cNvPr id="15" name="adoption_gap text 13"/>
          <p:cNvSpPr txBox="1"/>
          <p:nvPr/>
        </p:nvSpPr>
        <p:spPr>
          <a:xfrm>
            <a:off x="1171111" y="2981304"/>
            <a:ext cx="1621116" cy="388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6"/>
              </a:lnSpc>
              <a:buNone/>
            </a:pPr>
            <a:r>
              <a:rPr lang="en-US" sz="1092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PSS adoption</a:t>
            </a:r>
            <a:endParaRPr lang="en-US" sz="1092" dirty="0"/>
          </a:p>
          <a:p>
            <a:pPr algn="ctr" indent="0" marL="0">
              <a:lnSpc>
                <a:spcPts val="1456"/>
              </a:lnSpc>
              <a:buNone/>
            </a:pPr>
            <a:r>
              <a:rPr lang="en-US" sz="1092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stops</a:t>
            </a:r>
            <a:endParaRPr lang="en-US" sz="1092" dirty="0"/>
          </a:p>
        </p:txBody>
      </p:sp>
      <p:sp>
        <p:nvSpPr>
          <p:cNvPr id="16" name="adoption_gap connector 14"/>
          <p:cNvSpPr/>
          <p:nvPr/>
        </p:nvSpPr>
        <p:spPr>
          <a:xfrm>
            <a:off x="3081865" y="2759415"/>
            <a:ext cx="8098923" cy="138680"/>
          </a:xfrm>
          <a:custGeom>
            <a:avLst/>
            <a:gdLst/>
            <a:ahLst/>
            <a:cxnLst/>
            <a:rect l="l" t="t" r="r" b="b"/>
            <a:pathLst>
              <a:path w="8098923" h="138680">
                <a:moveTo>
                  <a:pt x="0" y="0"/>
                </a:moveTo>
                <a:lnTo>
                  <a:pt x="0" y="138680"/>
                </a:lnTo>
                <a:lnTo>
                  <a:pt x="8098923" y="138680"/>
                </a:lnTo>
                <a:lnTo>
                  <a:pt x="8098923" y="0"/>
                </a:lnTo>
              </a:path>
            </a:pathLst>
          </a:custGeom>
          <a:ln w="18491">
            <a:solidFill>
              <a:srgbClr val="C53030"/>
            </a:solidFill>
            <a:prstDash val="solid"/>
          </a:ln>
        </p:spPr>
      </p:sp>
      <p:sp>
        <p:nvSpPr>
          <p:cNvPr id="17" name="adoption_gap text 15"/>
          <p:cNvSpPr txBox="1"/>
          <p:nvPr/>
        </p:nvSpPr>
        <p:spPr>
          <a:xfrm>
            <a:off x="4885595" y="2996096"/>
            <a:ext cx="4491463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the same device knowledge — but aren’t “tests”</a:t>
            </a:r>
            <a:endParaRPr lang="en-US" sz="1092" dirty="0"/>
          </a:p>
        </p:txBody>
      </p:sp>
      <p:sp>
        <p:nvSpPr>
          <p:cNvPr id="18" name="adoption_gap box 16"/>
          <p:cNvSpPr/>
          <p:nvPr/>
        </p:nvSpPr>
        <p:spPr>
          <a:xfrm>
            <a:off x="918454" y="3545270"/>
            <a:ext cx="5084940" cy="1294348"/>
          </a:xfrm>
          <a:prstGeom prst="roundRect">
            <a:avLst>
              <a:gd name="adj" fmla="val 7143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57321" rIns="73963" bIns="36981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238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Adopting PSS for tests requires…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PSS as the test-description language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PSS content for every device a test touches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…and actually writing tests</a:t>
            </a:r>
            <a:endParaRPr lang="en-US" sz="1238" dirty="0"/>
          </a:p>
        </p:txBody>
      </p:sp>
      <p:sp>
        <p:nvSpPr>
          <p:cNvPr id="19" name="adoption_gap box 17"/>
          <p:cNvSpPr/>
          <p:nvPr/>
        </p:nvSpPr>
        <p:spPr>
          <a:xfrm>
            <a:off x="6188301" y="3545270"/>
            <a:ext cx="5084940" cy="1294348"/>
          </a:xfrm>
          <a:prstGeom prst="roundRect">
            <a:avLst>
              <a:gd name="adj" fmla="val 7143"/>
            </a:avLst>
          </a:prstGeom>
          <a:solidFill>
            <a:srgbClr val="FFF5F5"/>
          </a:solidFill>
          <a:ln w="18491">
            <a:solidFill>
              <a:srgbClr val="C53030"/>
            </a:solidFill>
            <a:prstDash val="solid"/>
          </a:ln>
        </p:spPr>
        <p:txBody>
          <a:bodyPr wrap="square" lIns="120189" tIns="57321" rIns="73963" bIns="36981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238" b="1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in practice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mission-mode firmware exercises the design — not a test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teams can’t (yet) write full tests in PSS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PSS doesn’t exist for every device</a:t>
            </a:r>
            <a:endParaRPr lang="en-US" sz="12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Taking PSS beyond test reuse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Separate realization from scenario.</a:t>
            </a:r>
            <a:r>
              <a:rPr lang="en-US" sz="1800" dirty="0">
                <a:solidFill>
                  <a:schemeClr val="tx1"/>
                </a:solidFill>
              </a:rPr>
              <a:t> At this point it's a simple separation:</a:t>
            </a:r>
            <a:endParaRPr lang="en-US" sz="1800" dirty="0"/>
          </a:p>
        </p:txBody>
      </p:sp>
      <p:sp>
        <p:nvSpPr>
          <p:cNvPr id="4" name="scenario_split text 1"/>
          <p:cNvSpPr txBox="1"/>
          <p:nvPr/>
        </p:nvSpPr>
        <p:spPr>
          <a:xfrm>
            <a:off x="1555880" y="1919171"/>
            <a:ext cx="2978007" cy="218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31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one action does both</a:t>
            </a:r>
            <a:endParaRPr lang="en-US" sz="1310" dirty="0"/>
          </a:p>
        </p:txBody>
      </p:sp>
      <p:sp>
        <p:nvSpPr>
          <p:cNvPr id="5" name="scenario_split text 2"/>
          <p:cNvSpPr txBox="1"/>
          <p:nvPr/>
        </p:nvSpPr>
        <p:spPr>
          <a:xfrm>
            <a:off x="6424642" y="1919171"/>
            <a:ext cx="4334899" cy="218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2"/>
              </a:lnSpc>
              <a:buNone/>
            </a:pPr>
            <a:r>
              <a:rPr lang="en-US" sz="131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realization moves to the component</a:t>
            </a:r>
            <a:endParaRPr lang="en-US" sz="1310" dirty="0"/>
          </a:p>
        </p:txBody>
      </p:sp>
      <p:sp>
        <p:nvSpPr>
          <p:cNvPr id="6" name="scenario_split box 3"/>
          <p:cNvSpPr/>
          <p:nvPr/>
        </p:nvSpPr>
        <p:spPr>
          <a:xfrm>
            <a:off x="733547" y="2245347"/>
            <a:ext cx="4622673" cy="3050964"/>
          </a:xfrm>
          <a:prstGeom prst="roundRect">
            <a:avLst>
              <a:gd name="adj" fmla="val 3030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7" name="scenario_split text 4"/>
          <p:cNvSpPr txBox="1"/>
          <p:nvPr/>
        </p:nvSpPr>
        <p:spPr>
          <a:xfrm>
            <a:off x="918454" y="2361839"/>
            <a:ext cx="3335869" cy="260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xfer_a {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 bit[16] size;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size in [1..4096];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 body {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comp.regs.sz.write_val(size);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comp.regs.csr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.write_field("en", 1);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(!done) { ... }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65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65" dirty="0"/>
          </a:p>
        </p:txBody>
      </p:sp>
      <p:sp>
        <p:nvSpPr>
          <p:cNvPr id="8" name="scenario_split shape 5"/>
          <p:cNvSpPr/>
          <p:nvPr/>
        </p:nvSpPr>
        <p:spPr>
          <a:xfrm>
            <a:off x="826000" y="3419506"/>
            <a:ext cx="4437766" cy="1090951"/>
          </a:xfrm>
          <a:prstGeom prst="roundRect">
            <a:avLst>
              <a:gd name="adj" fmla="val 5085"/>
            </a:avLst>
          </a:prstGeom>
          <a:ln w="18491">
            <a:solidFill>
              <a:srgbClr val="9C4221"/>
            </a:solidFill>
            <a:prstDash val="dash"/>
          </a:ln>
        </p:spPr>
      </p:sp>
      <p:sp>
        <p:nvSpPr>
          <p:cNvPr id="9" name="scenario_split line 6"/>
          <p:cNvSpPr/>
          <p:nvPr/>
        </p:nvSpPr>
        <p:spPr>
          <a:xfrm>
            <a:off x="5541127" y="4094417"/>
            <a:ext cx="647174" cy="0"/>
          </a:xfrm>
          <a:prstGeom prst="line">
            <a:avLst/>
          </a:prstGeom>
          <a:noFill/>
          <a:ln w="27736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0" name="scenario_split box 7"/>
          <p:cNvSpPr/>
          <p:nvPr/>
        </p:nvSpPr>
        <p:spPr>
          <a:xfrm>
            <a:off x="6373208" y="2245347"/>
            <a:ext cx="5084940" cy="1941523"/>
          </a:xfrm>
          <a:prstGeom prst="roundRect">
            <a:avLst>
              <a:gd name="adj" fmla="val 4762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scenario_split text 8"/>
          <p:cNvSpPr txBox="1"/>
          <p:nvPr/>
        </p:nvSpPr>
        <p:spPr>
          <a:xfrm>
            <a:off x="10660770" y="2324487"/>
            <a:ext cx="70492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019" dirty="0"/>
          </a:p>
        </p:txBody>
      </p:sp>
      <p:sp>
        <p:nvSpPr>
          <p:cNvPr id="12" name="scenario_split text 9"/>
          <p:cNvSpPr txBox="1"/>
          <p:nvPr/>
        </p:nvSpPr>
        <p:spPr>
          <a:xfrm>
            <a:off x="6558115" y="2384027"/>
            <a:ext cx="3137057" cy="16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xfer_a {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 bit[16] size;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size in [1..4096];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 body {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comp.transfer(size);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65" dirty="0"/>
          </a:p>
        </p:txBody>
      </p:sp>
      <p:sp>
        <p:nvSpPr>
          <p:cNvPr id="13" name="scenario_split box 10"/>
          <p:cNvSpPr/>
          <p:nvPr/>
        </p:nvSpPr>
        <p:spPr>
          <a:xfrm>
            <a:off x="6373208" y="4371777"/>
            <a:ext cx="5084940" cy="1664162"/>
          </a:xfrm>
          <a:prstGeom prst="roundRect">
            <a:avLst>
              <a:gd name="adj" fmla="val 5556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scenario_split text 11"/>
          <p:cNvSpPr txBox="1"/>
          <p:nvPr/>
        </p:nvSpPr>
        <p:spPr>
          <a:xfrm>
            <a:off x="8955958" y="4450917"/>
            <a:ext cx="2409737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9C42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realization → operation model</a:t>
            </a:r>
            <a:endParaRPr lang="en-US" sz="1019" dirty="0"/>
          </a:p>
        </p:txBody>
      </p:sp>
      <p:sp>
        <p:nvSpPr>
          <p:cNvPr id="15" name="scenario_split text 12"/>
          <p:cNvSpPr txBox="1"/>
          <p:nvPr/>
        </p:nvSpPr>
        <p:spPr>
          <a:xfrm>
            <a:off x="6558115" y="4532646"/>
            <a:ext cx="4249161" cy="1442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dma_c {</a:t>
            </a:r>
            <a:endParaRPr lang="en-US" sz="1092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function void transfer(bit[16] sz) {</a:t>
            </a:r>
            <a:endParaRPr lang="en-US" sz="1092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regs.sz.write_val(sz);</a:t>
            </a:r>
            <a:endParaRPr lang="en-US" sz="1092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regs.csr.write_field("en", 1);</a:t>
            </a:r>
            <a:endParaRPr lang="en-US" sz="1092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(!done) { ... }</a:t>
            </a:r>
            <a:endParaRPr lang="en-US" sz="1092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92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2" dirty="0"/>
          </a:p>
        </p:txBody>
      </p:sp>
      <p:sp>
        <p:nvSpPr>
          <p:cNvPr id="16" name="scenario_split connector 13"/>
          <p:cNvSpPr/>
          <p:nvPr/>
        </p:nvSpPr>
        <p:spPr>
          <a:xfrm>
            <a:off x="8314731" y="3595168"/>
            <a:ext cx="554721" cy="1072460"/>
          </a:xfrm>
          <a:custGeom>
            <a:avLst/>
            <a:gdLst/>
            <a:ahLst/>
            <a:cxnLst/>
            <a:rect l="l" t="t" r="r" b="b"/>
            <a:pathLst>
              <a:path w="554721" h="1072460">
                <a:moveTo>
                  <a:pt x="0" y="0"/>
                </a:moveTo>
                <a:cubicBezTo>
                  <a:pt x="554721" y="314342"/>
                  <a:pt x="554721" y="499249"/>
                  <a:pt x="184907" y="1072460"/>
                </a:cubicBezTo>
              </a:path>
            </a:pathLst>
          </a:custGeom>
          <a:ln w="18491">
            <a:solidFill>
              <a:srgbClr val="9C4221"/>
            </a:solidFill>
            <a:prstDash val="solid"/>
            <a:tailEnd type="triangle"/>
          </a:ln>
        </p:spPr>
      </p:sp>
      <p:sp>
        <p:nvSpPr>
          <p:cNvPr id="17" name="scenario_split text 14"/>
          <p:cNvSpPr txBox="1"/>
          <p:nvPr/>
        </p:nvSpPr>
        <p:spPr>
          <a:xfrm>
            <a:off x="8869895" y="3923932"/>
            <a:ext cx="461380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9C42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019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operation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component functions now form a </a:t>
            </a:r>
            <a:r>
              <a:rPr lang="en-US" sz="1800" b="1" dirty="0">
                <a:solidFill>
                  <a:schemeClr val="tx1"/>
                </a:solidFill>
              </a:rPr>
              <a:t>device-programming API</a:t>
            </a:r>
            <a:r>
              <a:rPr lang="en-US" sz="1800" dirty="0">
                <a:solidFill>
                  <a:schemeClr val="tx1"/>
                </a:solidFill>
              </a:rPr>
              <a:t> we can generate:</a:t>
            </a:r>
            <a:endParaRPr lang="en-US" sz="1800" dirty="0"/>
          </a:p>
        </p:txBody>
      </p:sp>
      <p:sp>
        <p:nvSpPr>
          <p:cNvPr id="4" name="op_model_fanout box 1"/>
          <p:cNvSpPr/>
          <p:nvPr/>
        </p:nvSpPr>
        <p:spPr>
          <a:xfrm>
            <a:off x="1243691" y="3037948"/>
            <a:ext cx="2844368" cy="1422184"/>
          </a:xfrm>
          <a:prstGeom prst="roundRect">
            <a:avLst>
              <a:gd name="adj" fmla="val 5882"/>
            </a:avLst>
          </a:prstGeom>
          <a:solidFill>
            <a:srgbClr val="EBF4FF"/>
          </a:solidFill>
          <a:ln w="16732">
            <a:solidFill>
              <a:srgbClr val="2B6CB0"/>
            </a:solidFill>
            <a:prstDash val="solid"/>
          </a:ln>
        </p:spPr>
        <p:txBody>
          <a:bodyPr wrap="square" lIns="108755" tIns="68599" rIns="66926" bIns="33463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252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 operation model</a:t>
            </a:r>
            <a:endParaRPr lang="en-US" sz="1252" dirty="0"/>
          </a:p>
          <a:p>
            <a:pPr algn="l" indent="0" marL="0">
              <a:lnSpc>
                <a:spcPts val="1713"/>
              </a:lnSpc>
              <a:buNone/>
            </a:pPr>
            <a:r>
              <a:rPr lang="en-US" sz="1054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tree</a:t>
            </a:r>
            <a:endParaRPr lang="en-US" sz="1252" dirty="0"/>
          </a:p>
          <a:p>
            <a:pPr algn="l" indent="0" marL="0">
              <a:lnSpc>
                <a:spcPts val="1713"/>
              </a:lnSpc>
              <a:buNone/>
            </a:pPr>
            <a:r>
              <a:rPr lang="en-US" sz="1054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functions (operations)</a:t>
            </a:r>
            <a:endParaRPr lang="en-US" sz="1252" dirty="0"/>
          </a:p>
          <a:p>
            <a:pPr algn="l" indent="0" marL="0">
              <a:lnSpc>
                <a:spcPts val="1713"/>
              </a:lnSpc>
              <a:buNone/>
            </a:pPr>
            <a:r>
              <a:rPr lang="en-US" sz="1054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register model</a:t>
            </a:r>
            <a:endParaRPr lang="en-US" sz="1252" dirty="0"/>
          </a:p>
        </p:txBody>
      </p:sp>
      <p:sp>
        <p:nvSpPr>
          <p:cNvPr id="5" name="op_model_fanout box 2"/>
          <p:cNvSpPr/>
          <p:nvPr/>
        </p:nvSpPr>
        <p:spPr>
          <a:xfrm>
            <a:off x="4590006" y="3414409"/>
            <a:ext cx="1171210" cy="669263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 w="16732">
            <a:solidFill>
              <a:srgbClr val="1A202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3"/>
              </a:lnSpc>
              <a:buNone/>
            </a:pPr>
            <a:r>
              <a:rPr lang="en-US" sz="131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pssc</a:t>
            </a:r>
            <a:endParaRPr lang="en-US" sz="1317" dirty="0"/>
          </a:p>
        </p:txBody>
      </p:sp>
      <p:sp>
        <p:nvSpPr>
          <p:cNvPr id="6" name="op_model_fanout line 3"/>
          <p:cNvSpPr/>
          <p:nvPr/>
        </p:nvSpPr>
        <p:spPr>
          <a:xfrm>
            <a:off x="4088059" y="3749040"/>
            <a:ext cx="468484" cy="0"/>
          </a:xfrm>
          <a:prstGeom prst="line">
            <a:avLst/>
          </a:prstGeom>
          <a:noFill/>
          <a:ln w="25097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7" name="op_model_fanout box 4"/>
          <p:cNvSpPr/>
          <p:nvPr/>
        </p:nvSpPr>
        <p:spPr>
          <a:xfrm>
            <a:off x="6430479" y="1908567"/>
            <a:ext cx="2760710" cy="669263"/>
          </a:xfrm>
          <a:prstGeom prst="roundRect">
            <a:avLst>
              <a:gd name="adj" fmla="val 12500"/>
            </a:avLst>
          </a:prstGeom>
          <a:solidFill>
            <a:srgbClr val="F3EFFF"/>
          </a:solidFill>
          <a:ln w="16732">
            <a:solidFill>
              <a:srgbClr val="6B46C1"/>
            </a:solidFill>
            <a:prstDash val="solid"/>
          </a:ln>
        </p:spPr>
        <p:txBody>
          <a:bodyPr wrap="square" lIns="108755" tIns="85331" rIns="66926" bIns="33463" rtlCol="0" anchor="t"/>
          <a:lstStyle/>
          <a:p>
            <a:pPr algn="l" indent="0" marL="0">
              <a:lnSpc>
                <a:spcPts val="1383"/>
              </a:lnSpc>
              <a:buNone/>
            </a:pPr>
            <a:r>
              <a:rPr lang="en-US" sz="112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SystemVerilog classes</a:t>
            </a:r>
            <a:endParaRPr lang="en-US" sz="1120" dirty="0"/>
          </a:p>
          <a:p>
            <a:pPr algn="l" indent="0" marL="0">
              <a:lnSpc>
                <a:spcPts val="1383"/>
              </a:lnSpc>
              <a:buNone/>
            </a:pPr>
            <a:r>
              <a:rPr lang="en-US" sz="988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UVM sequences, tests</a:t>
            </a:r>
            <a:endParaRPr lang="en-US" sz="1120" dirty="0"/>
          </a:p>
        </p:txBody>
      </p:sp>
      <p:sp>
        <p:nvSpPr>
          <p:cNvPr id="8" name="op_model_fanout line 5"/>
          <p:cNvSpPr/>
          <p:nvPr/>
        </p:nvSpPr>
        <p:spPr>
          <a:xfrm flipV="1">
            <a:off x="5761216" y="2243198"/>
            <a:ext cx="635800" cy="1505842"/>
          </a:xfrm>
          <a:prstGeom prst="line">
            <a:avLst/>
          </a:prstGeom>
          <a:noFill/>
          <a:ln w="16732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9" name="op_model_fanout box 6"/>
          <p:cNvSpPr/>
          <p:nvPr/>
        </p:nvSpPr>
        <p:spPr>
          <a:xfrm>
            <a:off x="6430479" y="2745146"/>
            <a:ext cx="2760710" cy="669263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6732">
            <a:solidFill>
              <a:srgbClr val="2F855A"/>
            </a:solidFill>
            <a:prstDash val="solid"/>
          </a:ln>
        </p:spPr>
        <p:txBody>
          <a:bodyPr wrap="square" lIns="108755" tIns="85331" rIns="66926" bIns="33463" rtlCol="0" anchor="t"/>
          <a:lstStyle/>
          <a:p>
            <a:pPr algn="l" indent="0" marL="0">
              <a:lnSpc>
                <a:spcPts val="1383"/>
              </a:lnSpc>
              <a:buNone/>
            </a:pPr>
            <a:r>
              <a:rPr lang="en-US" sz="1120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functions</a:t>
            </a:r>
            <a:endParaRPr lang="en-US" sz="1120" dirty="0"/>
          </a:p>
          <a:p>
            <a:pPr algn="l" indent="0" marL="0">
              <a:lnSpc>
                <a:spcPts val="1383"/>
              </a:lnSpc>
              <a:buNone/>
            </a:pPr>
            <a:r>
              <a:rPr lang="en-US" sz="988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firmware, emulation, post-si</a:t>
            </a:r>
            <a:endParaRPr lang="en-US" sz="1120" dirty="0"/>
          </a:p>
        </p:txBody>
      </p:sp>
      <p:sp>
        <p:nvSpPr>
          <p:cNvPr id="10" name="op_model_fanout line 7"/>
          <p:cNvSpPr/>
          <p:nvPr/>
        </p:nvSpPr>
        <p:spPr>
          <a:xfrm flipV="1">
            <a:off x="5761216" y="3079777"/>
            <a:ext cx="635800" cy="669263"/>
          </a:xfrm>
          <a:prstGeom prst="line">
            <a:avLst/>
          </a:prstGeom>
          <a:noFill/>
          <a:ln w="16732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1" name="op_model_fanout box 8"/>
          <p:cNvSpPr/>
          <p:nvPr/>
        </p:nvSpPr>
        <p:spPr>
          <a:xfrm>
            <a:off x="6430479" y="3581724"/>
            <a:ext cx="2760710" cy="669263"/>
          </a:xfrm>
          <a:prstGeom prst="roundRect">
            <a:avLst>
              <a:gd name="adj" fmla="val 12500"/>
            </a:avLst>
          </a:prstGeom>
          <a:solidFill>
            <a:srgbClr val="E6FFFA"/>
          </a:solidFill>
          <a:ln w="16732">
            <a:solidFill>
              <a:srgbClr val="2C7A7B"/>
            </a:solidFill>
            <a:prstDash val="solid"/>
          </a:ln>
        </p:spPr>
        <p:txBody>
          <a:bodyPr wrap="square" lIns="108755" tIns="85331" rIns="66926" bIns="33463" rtlCol="0" anchor="t"/>
          <a:lstStyle/>
          <a:p>
            <a:pPr algn="l" indent="0" marL="0">
              <a:lnSpc>
                <a:spcPts val="1383"/>
              </a:lnSpc>
              <a:buNone/>
            </a:pPr>
            <a:r>
              <a:rPr lang="en-US" sz="1120" b="1" dirty="0">
                <a:solidFill>
                  <a:srgbClr val="1D4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classes</a:t>
            </a:r>
            <a:endParaRPr lang="en-US" sz="1120" dirty="0"/>
          </a:p>
          <a:p>
            <a:pPr algn="l" indent="0" marL="0">
              <a:lnSpc>
                <a:spcPts val="1383"/>
              </a:lnSpc>
              <a:buNone/>
            </a:pPr>
            <a:r>
              <a:rPr lang="en-US" sz="988" dirty="0">
                <a:solidFill>
                  <a:srgbClr val="1D4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models, SystemC</a:t>
            </a:r>
            <a:endParaRPr lang="en-US" sz="1120" dirty="0"/>
          </a:p>
        </p:txBody>
      </p:sp>
      <p:sp>
        <p:nvSpPr>
          <p:cNvPr id="12" name="op_model_fanout line 9"/>
          <p:cNvSpPr/>
          <p:nvPr/>
        </p:nvSpPr>
        <p:spPr>
          <a:xfrm>
            <a:off x="5761216" y="3749040"/>
            <a:ext cx="635800" cy="167316"/>
          </a:xfrm>
          <a:prstGeom prst="line">
            <a:avLst/>
          </a:prstGeom>
          <a:noFill/>
          <a:ln w="16732">
            <a:solidFill>
              <a:srgbClr val="2C7A7B"/>
            </a:solidFill>
            <a:prstDash val="solid"/>
            <a:tailEnd type="triangle"/>
          </a:ln>
        </p:spPr>
      </p:sp>
      <p:sp>
        <p:nvSpPr>
          <p:cNvPr id="13" name="op_model_fanout box 10"/>
          <p:cNvSpPr/>
          <p:nvPr/>
        </p:nvSpPr>
        <p:spPr>
          <a:xfrm>
            <a:off x="6430479" y="4418303"/>
            <a:ext cx="2760710" cy="669263"/>
          </a:xfrm>
          <a:prstGeom prst="roundRect">
            <a:avLst>
              <a:gd name="adj" fmla="val 12500"/>
            </a:avLst>
          </a:prstGeom>
          <a:solidFill>
            <a:srgbClr val="FFF8E6"/>
          </a:solidFill>
          <a:ln w="16732">
            <a:solidFill>
              <a:srgbClr val="B7791F"/>
            </a:solidFill>
            <a:prstDash val="solid"/>
          </a:ln>
        </p:spPr>
        <p:txBody>
          <a:bodyPr wrap="square" lIns="108755" tIns="85331" rIns="66926" bIns="33463" rtlCol="0" anchor="t"/>
          <a:lstStyle/>
          <a:p>
            <a:pPr algn="l" indent="0" marL="0">
              <a:lnSpc>
                <a:spcPts val="1383"/>
              </a:lnSpc>
              <a:buNone/>
            </a:pPr>
            <a:r>
              <a:rPr lang="en-US" sz="112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</a:t>
            </a:r>
            <a:endParaRPr lang="en-US" sz="1120" dirty="0"/>
          </a:p>
          <a:p>
            <a:pPr algn="l" indent="0" marL="0">
              <a:lnSpc>
                <a:spcPts val="1383"/>
              </a:lnSpc>
              <a:buNone/>
            </a:pPr>
            <a:r>
              <a:rPr lang="en-US" sz="988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scripts, cocotb</a:t>
            </a:r>
            <a:endParaRPr lang="en-US" sz="1120" dirty="0"/>
          </a:p>
        </p:txBody>
      </p:sp>
      <p:sp>
        <p:nvSpPr>
          <p:cNvPr id="14" name="op_model_fanout line 11"/>
          <p:cNvSpPr/>
          <p:nvPr/>
        </p:nvSpPr>
        <p:spPr>
          <a:xfrm>
            <a:off x="5761216" y="3749040"/>
            <a:ext cx="635800" cy="1003894"/>
          </a:xfrm>
          <a:prstGeom prst="line">
            <a:avLst/>
          </a:prstGeom>
          <a:noFill/>
          <a:ln w="16732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5" name="op_model_fanout box 12"/>
          <p:cNvSpPr/>
          <p:nvPr/>
        </p:nvSpPr>
        <p:spPr>
          <a:xfrm>
            <a:off x="6430479" y="5213053"/>
            <a:ext cx="2760710" cy="418289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16732">
            <a:solidFill>
              <a:srgbClr val="2B6CB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3"/>
              </a:lnSpc>
              <a:buNone/>
            </a:pPr>
            <a:r>
              <a:rPr lang="en-US" sz="988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 scenarios — call it directly</a:t>
            </a:r>
            <a:endParaRPr lang="en-US" sz="988" dirty="0"/>
          </a:p>
        </p:txBody>
      </p:sp>
      <p:sp>
        <p:nvSpPr>
          <p:cNvPr id="16" name="op_model_fanout connector 13"/>
          <p:cNvSpPr/>
          <p:nvPr/>
        </p:nvSpPr>
        <p:spPr>
          <a:xfrm>
            <a:off x="2665875" y="4460132"/>
            <a:ext cx="3731141" cy="1003894"/>
          </a:xfrm>
          <a:custGeom>
            <a:avLst/>
            <a:gdLst/>
            <a:ahLst/>
            <a:cxnLst/>
            <a:rect l="l" t="t" r="r" b="b"/>
            <a:pathLst>
              <a:path w="3731141" h="1003894">
                <a:moveTo>
                  <a:pt x="0" y="0"/>
                </a:moveTo>
                <a:cubicBezTo>
                  <a:pt x="0" y="1003894"/>
                  <a:pt x="1756815" y="962066"/>
                  <a:pt x="3731141" y="962066"/>
                </a:cubicBezTo>
              </a:path>
            </a:pathLst>
          </a:custGeom>
          <a:ln w="16732">
            <a:solidFill>
              <a:srgbClr val="2B6CB0"/>
            </a:solidFill>
            <a:prstDash val="dash"/>
            <a:tailEnd type="triangle"/>
          </a:ln>
        </p:spPr>
      </p:sp>
      <p:sp>
        <p:nvSpPr>
          <p:cNvPr id="17" name="op_model_fanout text 14"/>
          <p:cNvSpPr txBox="1"/>
          <p:nvPr/>
        </p:nvSpPr>
        <p:spPr>
          <a:xfrm>
            <a:off x="9442162" y="3079777"/>
            <a:ext cx="1209787" cy="85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en-US" sz="112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</a:t>
            </a:r>
            <a:endParaRPr lang="en-US" sz="1120" dirty="0"/>
          </a:p>
          <a:p>
            <a:pPr algn="l" indent="0" marL="0">
              <a:lnSpc>
                <a:spcPts val="1647"/>
              </a:lnSpc>
              <a:buNone/>
            </a:pPr>
            <a:r>
              <a:rPr lang="en-US" sz="112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truth for</a:t>
            </a:r>
            <a:endParaRPr lang="en-US" sz="1120" dirty="0"/>
          </a:p>
          <a:p>
            <a:pPr algn="l" indent="0" marL="0">
              <a:lnSpc>
                <a:spcPts val="1647"/>
              </a:lnSpc>
              <a:buNone/>
            </a:pPr>
            <a:r>
              <a:rPr lang="en-US" sz="112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to drive</a:t>
            </a:r>
            <a:endParaRPr lang="en-US" sz="1120" dirty="0"/>
          </a:p>
          <a:p>
            <a:pPr algn="l" indent="0" marL="0">
              <a:lnSpc>
                <a:spcPts val="1647"/>
              </a:lnSpc>
              <a:buNone/>
            </a:pPr>
            <a:r>
              <a:rPr lang="en-US" sz="112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device”</a:t>
            </a:r>
            <a:endParaRPr lang="en-US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PSS scenarios still call the same functions directly.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Bottom line</a:t>
            </a:r>
            <a:endParaRPr lang="en-US" sz="3200" dirty="0"/>
          </a:p>
        </p:txBody>
      </p:sp>
      <p:sp>
        <p:nvSpPr>
          <p:cNvPr id="3" name="point 0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Single source of truth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PSS gives us device content that can target any language</a:t>
            </a:r>
            <a:endParaRPr lang="en-US" sz="1800" dirty="0"/>
          </a:p>
        </p:txBody>
      </p:sp>
      <p:sp>
        <p:nvSpPr>
          <p:cNvPr id="6" name="point 1"/>
          <p:cNvSpPr/>
          <p:nvPr/>
        </p:nvSpPr>
        <p:spPr>
          <a:xfrm>
            <a:off x="548640" y="292608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Pays off immediately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Operation models don't wait for anyone to write PSS tests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438912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Easier PSS adoption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More PSS content available → test scenarios become cheaper later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Getting technical: operation-model anatomy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requirements</a:t>
            </a:r>
            <a:endParaRPr lang="en-US" sz="3200" dirty="0"/>
          </a:p>
        </p:txBody>
      </p:sp>
      <p:sp>
        <p:nvSpPr>
          <p:cNvPr id="3" name="anatomy shape 1"/>
          <p:cNvSpPr/>
          <p:nvPr/>
        </p:nvSpPr>
        <p:spPr>
          <a:xfrm>
            <a:off x="687320" y="1418840"/>
            <a:ext cx="10817055" cy="4530220"/>
          </a:xfrm>
          <a:prstGeom prst="roundRect">
            <a:avLst>
              <a:gd name="adj" fmla="val 3673"/>
            </a:avLst>
          </a:prstGeom>
          <a:solidFill>
            <a:srgbClr val="F1F3F5"/>
          </a:solidFill>
          <a:ln w="18491">
            <a:solidFill>
              <a:srgbClr val="4A5568"/>
            </a:solidFill>
            <a:prstDash val="dash"/>
          </a:ln>
        </p:spPr>
      </p:sp>
      <p:sp>
        <p:nvSpPr>
          <p:cNvPr id="4" name="anatomy text 2"/>
          <p:cNvSpPr txBox="1"/>
          <p:nvPr/>
        </p:nvSpPr>
        <p:spPr>
          <a:xfrm>
            <a:off x="918454" y="1564177"/>
            <a:ext cx="5274285" cy="218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2"/>
              </a:lnSpc>
              <a:buNone/>
            </a:pPr>
            <a:r>
              <a:rPr lang="en-US" sz="131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(UVM test · firmware · Python script)</a:t>
            </a:r>
            <a:endParaRPr lang="en-US" sz="1310" dirty="0"/>
          </a:p>
        </p:txBody>
      </p:sp>
      <p:sp>
        <p:nvSpPr>
          <p:cNvPr id="5" name="anatomy shape 3"/>
          <p:cNvSpPr/>
          <p:nvPr/>
        </p:nvSpPr>
        <p:spPr>
          <a:xfrm>
            <a:off x="4061871" y="2112241"/>
            <a:ext cx="4067952" cy="3050964"/>
          </a:xfrm>
          <a:prstGeom prst="roundRect">
            <a:avLst>
              <a:gd name="adj" fmla="val 4848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</p:sp>
      <p:sp>
        <p:nvSpPr>
          <p:cNvPr id="6" name="anatomy text 4"/>
          <p:cNvSpPr txBox="1"/>
          <p:nvPr/>
        </p:nvSpPr>
        <p:spPr>
          <a:xfrm>
            <a:off x="4676428" y="2249072"/>
            <a:ext cx="2838839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Operation-model instance</a:t>
            </a:r>
            <a:endParaRPr lang="en-US" sz="1456" dirty="0"/>
          </a:p>
        </p:txBody>
      </p:sp>
      <p:sp>
        <p:nvSpPr>
          <p:cNvPr id="7" name="anatomy box 5"/>
          <p:cNvSpPr/>
          <p:nvPr/>
        </p:nvSpPr>
        <p:spPr>
          <a:xfrm>
            <a:off x="4339232" y="2620735"/>
            <a:ext cx="3513231" cy="64717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addresses, ids, config</a:t>
            </a:r>
            <a:endParaRPr lang="en-US" sz="1238" dirty="0"/>
          </a:p>
        </p:txBody>
      </p:sp>
      <p:sp>
        <p:nvSpPr>
          <p:cNvPr id="8" name="anatomy box 6"/>
          <p:cNvSpPr/>
          <p:nvPr/>
        </p:nvSpPr>
        <p:spPr>
          <a:xfrm>
            <a:off x="4339232" y="3388099"/>
            <a:ext cx="3513231" cy="64717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initialize(base) — bind state</a:t>
            </a:r>
            <a:endParaRPr lang="en-US" sz="1238" dirty="0"/>
          </a:p>
        </p:txBody>
      </p:sp>
      <p:sp>
        <p:nvSpPr>
          <p:cNvPr id="9" name="anatomy box 7"/>
          <p:cNvSpPr/>
          <p:nvPr/>
        </p:nvSpPr>
        <p:spPr>
          <a:xfrm>
            <a:off x="4339232" y="4155463"/>
            <a:ext cx="3513231" cy="83208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on the component tree,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registers, polling loops</a:t>
            </a:r>
            <a:endParaRPr lang="en-US" sz="1238" dirty="0"/>
          </a:p>
        </p:txBody>
      </p:sp>
      <p:sp>
        <p:nvSpPr>
          <p:cNvPr id="10" name="anatomy box 8"/>
          <p:cNvSpPr/>
          <p:nvPr/>
        </p:nvSpPr>
        <p:spPr>
          <a:xfrm>
            <a:off x="918454" y="2297148"/>
            <a:ext cx="2496243" cy="832081"/>
          </a:xfrm>
          <a:prstGeom prst="roundRect">
            <a:avLst>
              <a:gd name="adj" fmla="val 11111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/ ctor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+ initialize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API handle</a:t>
            </a:r>
            <a:endParaRPr lang="en-US" sz="1238" dirty="0"/>
          </a:p>
        </p:txBody>
      </p:sp>
      <p:sp>
        <p:nvSpPr>
          <p:cNvPr id="11" name="anatomy line 9"/>
          <p:cNvSpPr/>
          <p:nvPr/>
        </p:nvSpPr>
        <p:spPr>
          <a:xfrm>
            <a:off x="3414697" y="2759415"/>
            <a:ext cx="887553" cy="943025"/>
          </a:xfrm>
          <a:prstGeom prst="line">
            <a:avLst/>
          </a:prstGeom>
          <a:noFill/>
          <a:ln w="27736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12" name="anatomy box 10"/>
          <p:cNvSpPr/>
          <p:nvPr/>
        </p:nvSpPr>
        <p:spPr>
          <a:xfrm>
            <a:off x="918454" y="3868857"/>
            <a:ext cx="2496243" cy="1016988"/>
          </a:xfrm>
          <a:prstGeom prst="roundRect">
            <a:avLst>
              <a:gd name="adj" fmla="val 9091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API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an operation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an event (IRQ)</a:t>
            </a:r>
            <a:endParaRPr lang="en-US" sz="1238" dirty="0"/>
          </a:p>
        </p:txBody>
      </p:sp>
      <p:sp>
        <p:nvSpPr>
          <p:cNvPr id="13" name="anatomy line 11"/>
          <p:cNvSpPr/>
          <p:nvPr/>
        </p:nvSpPr>
        <p:spPr>
          <a:xfrm>
            <a:off x="3414697" y="4377351"/>
            <a:ext cx="887553" cy="184907"/>
          </a:xfrm>
          <a:prstGeom prst="line">
            <a:avLst/>
          </a:prstGeom>
          <a:noFill/>
          <a:ln w="27736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14" name="anatomy text 12"/>
          <p:cNvSpPr txBox="1"/>
          <p:nvPr/>
        </p:nvSpPr>
        <p:spPr>
          <a:xfrm>
            <a:off x="1692341" y="5038948"/>
            <a:ext cx="948469" cy="17381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→ model</a:t>
            </a:r>
            <a:endParaRPr lang="en-US" sz="1019" dirty="0"/>
          </a:p>
        </p:txBody>
      </p:sp>
      <p:sp>
        <p:nvSpPr>
          <p:cNvPr id="15" name="anatomy box 13"/>
          <p:cNvSpPr/>
          <p:nvPr/>
        </p:nvSpPr>
        <p:spPr>
          <a:xfrm>
            <a:off x="8776998" y="2297148"/>
            <a:ext cx="2496243" cy="1016988"/>
          </a:xfrm>
          <a:prstGeom prst="roundRect">
            <a:avLst>
              <a:gd name="adj" fmla="val 9091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API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read32 / write32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delay, yield, msg</a:t>
            </a:r>
            <a:endParaRPr lang="en-US" sz="1238" dirty="0"/>
          </a:p>
        </p:txBody>
      </p:sp>
      <p:sp>
        <p:nvSpPr>
          <p:cNvPr id="16" name="anatomy line 14"/>
          <p:cNvSpPr/>
          <p:nvPr/>
        </p:nvSpPr>
        <p:spPr>
          <a:xfrm flipV="1">
            <a:off x="7889445" y="2898096"/>
            <a:ext cx="850572" cy="1664162"/>
          </a:xfrm>
          <a:prstGeom prst="line">
            <a:avLst/>
          </a:prstGeom>
          <a:noFill/>
          <a:ln w="27736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7" name="anatomy text 15"/>
          <p:cNvSpPr txBox="1"/>
          <p:nvPr/>
        </p:nvSpPr>
        <p:spPr>
          <a:xfrm>
            <a:off x="7932950" y="3236105"/>
            <a:ext cx="948469" cy="17381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→ env</a:t>
            </a:r>
            <a:endParaRPr lang="en-US" sz="1019" dirty="0"/>
          </a:p>
        </p:txBody>
      </p:sp>
      <p:sp>
        <p:nvSpPr>
          <p:cNvPr id="18" name="anatomy box 16"/>
          <p:cNvSpPr/>
          <p:nvPr/>
        </p:nvSpPr>
        <p:spPr>
          <a:xfrm>
            <a:off x="8776998" y="3776403"/>
            <a:ext cx="2496243" cy="832081"/>
          </a:xfrm>
          <a:prstGeom prst="roundRect">
            <a:avLst>
              <a:gd name="adj" fmla="val 11111"/>
            </a:avLst>
          </a:prstGeom>
          <a:solidFill>
            <a:srgbClr val="F1F3F5"/>
          </a:solidFill>
          <a:ln w="18491">
            <a:solidFill>
              <a:srgbClr val="4A5568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implementation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agent / pointer /</a:t>
            </a:r>
            <a:endParaRPr lang="en-US" sz="1238" dirty="0"/>
          </a:p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device</a:t>
            </a:r>
            <a:endParaRPr lang="en-US" sz="1238" dirty="0"/>
          </a:p>
        </p:txBody>
      </p:sp>
      <p:sp>
        <p:nvSpPr>
          <p:cNvPr id="19" name="anatomy line 17"/>
          <p:cNvSpPr/>
          <p:nvPr/>
        </p:nvSpPr>
        <p:spPr>
          <a:xfrm>
            <a:off x="10025120" y="3314136"/>
            <a:ext cx="0" cy="425286"/>
          </a:xfrm>
          <a:prstGeom prst="line">
            <a:avLst/>
          </a:prstGeom>
          <a:noFill/>
          <a:ln w="18491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0" name="anatomy text 18"/>
          <p:cNvSpPr txBox="1"/>
          <p:nvPr/>
        </p:nvSpPr>
        <p:spPr>
          <a:xfrm>
            <a:off x="2728071" y="5391011"/>
            <a:ext cx="6735553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holds device knowledge; the environment holds everything else.</a:t>
            </a:r>
            <a:endParaRPr lang="en-US" sz="116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things an operation model must provide</a:t>
            </a:r>
            <a:endParaRPr lang="en-US" sz="32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416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API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environment calls in: perform an operation, notify an event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export target function f;</a:t>
                      </a: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the root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API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calls out: memory access, platform services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read32</a:t>
                      </a: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n-US" sz="145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write32</a:t>
                      </a: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45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target function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state: base addresses, ids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solve function void initialize(...)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per-instance data the operations read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fields, register-group handles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Everything else (scheduling, bus protocol, logging, test intent) stays in the </a:t>
            </a:r>
            <a:r>
              <a:rPr lang="en-US" sz="1800" b="1" dirty="0">
                <a:solidFill>
                  <a:schemeClr val="tx1"/>
                </a:solidFill>
              </a:rPr>
              <a:t>environment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SystemVerilog mapping</a:t>
            </a:r>
            <a:endParaRPr lang="en-US" sz="3200" dirty="0"/>
          </a:p>
        </p:txBody>
      </p:sp>
      <p:sp>
        <p:nvSpPr>
          <p:cNvPr id="3" name="sv_mapping shape 1"/>
          <p:cNvSpPr/>
          <p:nvPr/>
        </p:nvSpPr>
        <p:spPr>
          <a:xfrm>
            <a:off x="826000" y="1557520"/>
            <a:ext cx="3328325" cy="1294348"/>
          </a:xfrm>
          <a:prstGeom prst="roundRect">
            <a:avLst>
              <a:gd name="adj" fmla="val 4286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</p:sp>
      <p:sp>
        <p:nvSpPr>
          <p:cNvPr id="4" name="sv_mapping text 2"/>
          <p:cNvSpPr txBox="1"/>
          <p:nvPr/>
        </p:nvSpPr>
        <p:spPr>
          <a:xfrm>
            <a:off x="1407067" y="1645536"/>
            <a:ext cx="2166192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i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class — EXPORT API</a:t>
            </a:r>
            <a:endParaRPr lang="en-US" sz="946" dirty="0"/>
          </a:p>
        </p:txBody>
      </p:sp>
      <p:sp>
        <p:nvSpPr>
          <p:cNvPr id="5" name="sv_mapping text 3"/>
          <p:cNvSpPr txBox="1"/>
          <p:nvPr/>
        </p:nvSpPr>
        <p:spPr>
          <a:xfrm>
            <a:off x="1775904" y="1813432"/>
            <a:ext cx="1428517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soc_c_ctxt_if</a:t>
            </a:r>
            <a:endParaRPr lang="en-US" sz="1238" dirty="0"/>
          </a:p>
        </p:txBody>
      </p:sp>
      <p:sp>
        <p:nvSpPr>
          <p:cNvPr id="6" name="sv_mapping line 4"/>
          <p:cNvSpPr/>
          <p:nvPr/>
        </p:nvSpPr>
        <p:spPr>
          <a:xfrm>
            <a:off x="826000" y="2075260"/>
            <a:ext cx="3328325" cy="0"/>
          </a:xfrm>
          <a:prstGeom prst="line">
            <a:avLst/>
          </a:prstGeom>
          <a:noFill/>
          <a:ln w="9245">
            <a:solidFill>
              <a:srgbClr val="6B46C1"/>
            </a:solidFill>
            <a:prstDash val="solid"/>
          </a:ln>
        </p:spPr>
      </p:sp>
      <p:sp>
        <p:nvSpPr>
          <p:cNvPr id="7" name="sv_mapping text 5"/>
          <p:cNvSpPr txBox="1"/>
          <p:nvPr/>
        </p:nvSpPr>
        <p:spPr>
          <a:xfrm>
            <a:off x="936945" y="2134430"/>
            <a:ext cx="3012799" cy="42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delay_ticks(int t,</a:t>
            </a:r>
            <a:endParaRPr lang="en-US" sz="1019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bit[31:0] ticks);</a:t>
            </a:r>
            <a:endParaRPr lang="en-US" sz="1019" dirty="0"/>
          </a:p>
        </p:txBody>
      </p:sp>
      <p:sp>
        <p:nvSpPr>
          <p:cNvPr id="8" name="sv_mapping shape 6"/>
          <p:cNvSpPr/>
          <p:nvPr/>
        </p:nvSpPr>
        <p:spPr>
          <a:xfrm>
            <a:off x="8037370" y="1557520"/>
            <a:ext cx="3328325" cy="1294348"/>
          </a:xfrm>
          <a:prstGeom prst="roundRect">
            <a:avLst>
              <a:gd name="adj" fmla="val 4286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</p:sp>
      <p:sp>
        <p:nvSpPr>
          <p:cNvPr id="9" name="sv_mapping text 7"/>
          <p:cNvSpPr txBox="1"/>
          <p:nvPr/>
        </p:nvSpPr>
        <p:spPr>
          <a:xfrm>
            <a:off x="8618437" y="1645536"/>
            <a:ext cx="2166192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i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class — IMPORT API</a:t>
            </a:r>
            <a:endParaRPr lang="en-US" sz="946" dirty="0"/>
          </a:p>
        </p:txBody>
      </p:sp>
      <p:sp>
        <p:nvSpPr>
          <p:cNvPr id="10" name="sv_mapping text 8"/>
          <p:cNvSpPr txBox="1"/>
          <p:nvPr/>
        </p:nvSpPr>
        <p:spPr>
          <a:xfrm>
            <a:off x="9040084" y="1813432"/>
            <a:ext cx="1322898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soc_c_imp_if</a:t>
            </a:r>
            <a:endParaRPr lang="en-US" sz="1238" dirty="0"/>
          </a:p>
        </p:txBody>
      </p:sp>
      <p:sp>
        <p:nvSpPr>
          <p:cNvPr id="11" name="sv_mapping line 9"/>
          <p:cNvSpPr/>
          <p:nvPr/>
        </p:nvSpPr>
        <p:spPr>
          <a:xfrm>
            <a:off x="8037370" y="2075260"/>
            <a:ext cx="3328325" cy="0"/>
          </a:xfrm>
          <a:prstGeom prst="line">
            <a:avLst/>
          </a:prstGeom>
          <a:noFill/>
          <a:ln w="9245">
            <a:solidFill>
              <a:srgbClr val="2F855A"/>
            </a:solidFill>
            <a:prstDash val="solid"/>
          </a:ln>
        </p:spPr>
      </p:sp>
      <p:sp>
        <p:nvSpPr>
          <p:cNvPr id="12" name="sv_mapping text 10"/>
          <p:cNvSpPr txBox="1"/>
          <p:nvPr/>
        </p:nvSpPr>
        <p:spPr>
          <a:xfrm>
            <a:off x="8148314" y="2134430"/>
            <a:ext cx="3447700" cy="42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pss_mem_if  // read32/write32..</a:t>
            </a:r>
            <a:endParaRPr lang="en-US" sz="1019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plat_delay_us(int us);</a:t>
            </a:r>
            <a:endParaRPr lang="en-US" sz="1019" dirty="0"/>
          </a:p>
        </p:txBody>
      </p:sp>
      <p:sp>
        <p:nvSpPr>
          <p:cNvPr id="13" name="sv_mapping shape 11"/>
          <p:cNvSpPr/>
          <p:nvPr/>
        </p:nvSpPr>
        <p:spPr>
          <a:xfrm>
            <a:off x="4061871" y="3591497"/>
            <a:ext cx="4067952" cy="1479255"/>
          </a:xfrm>
          <a:prstGeom prst="roundRect">
            <a:avLst>
              <a:gd name="adj" fmla="val 3750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</p:sp>
      <p:sp>
        <p:nvSpPr>
          <p:cNvPr id="14" name="sv_mapping text 12"/>
          <p:cNvSpPr txBox="1"/>
          <p:nvPr/>
        </p:nvSpPr>
        <p:spPr>
          <a:xfrm>
            <a:off x="5238900" y="3679512"/>
            <a:ext cx="1713895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+ root context</a:t>
            </a:r>
            <a:endParaRPr lang="en-US" sz="946" dirty="0"/>
          </a:p>
        </p:txBody>
      </p:sp>
      <p:sp>
        <p:nvSpPr>
          <p:cNvPr id="15" name="sv_mapping text 13"/>
          <p:cNvSpPr txBox="1"/>
          <p:nvPr/>
        </p:nvSpPr>
        <p:spPr>
          <a:xfrm>
            <a:off x="5117542" y="3847408"/>
            <a:ext cx="1956611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soc_c_root #(Timp)</a:t>
            </a:r>
            <a:endParaRPr lang="en-US" sz="1238" dirty="0"/>
          </a:p>
        </p:txBody>
      </p:sp>
      <p:sp>
        <p:nvSpPr>
          <p:cNvPr id="16" name="sv_mapping line 14"/>
          <p:cNvSpPr/>
          <p:nvPr/>
        </p:nvSpPr>
        <p:spPr>
          <a:xfrm>
            <a:off x="4061871" y="4109236"/>
            <a:ext cx="4067952" cy="0"/>
          </a:xfrm>
          <a:prstGeom prst="line">
            <a:avLst/>
          </a:prstGeom>
          <a:noFill/>
          <a:ln w="9245">
            <a:solidFill>
              <a:srgbClr val="2B6CB0"/>
            </a:solidFill>
            <a:prstDash val="solid"/>
          </a:ln>
        </p:spPr>
      </p:sp>
      <p:sp>
        <p:nvSpPr>
          <p:cNvPr id="17" name="sv_mapping text 15"/>
          <p:cNvSpPr txBox="1"/>
          <p:nvPr/>
        </p:nvSpPr>
        <p:spPr>
          <a:xfrm>
            <a:off x="4172816" y="4168406"/>
            <a:ext cx="3447700" cy="83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function soc_c_ctxt_if</a:t>
            </a:r>
            <a:endParaRPr lang="en-US" sz="1019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create(Timp imp, addr_handle_t base);</a:t>
            </a:r>
            <a:endParaRPr lang="en-US" sz="1019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soc_c pss_root;  // the STATE</a:t>
            </a:r>
            <a:endParaRPr lang="en-US" sz="1019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Timp  pss_imp;</a:t>
            </a:r>
            <a:endParaRPr lang="en-US" sz="1019" dirty="0"/>
          </a:p>
        </p:txBody>
      </p:sp>
      <p:sp>
        <p:nvSpPr>
          <p:cNvPr id="18" name="sv_mapping shape 16"/>
          <p:cNvSpPr/>
          <p:nvPr/>
        </p:nvSpPr>
        <p:spPr>
          <a:xfrm>
            <a:off x="8684544" y="4053764"/>
            <a:ext cx="2681150" cy="1016988"/>
          </a:xfrm>
          <a:prstGeom prst="roundRect">
            <a:avLst>
              <a:gd name="adj" fmla="val 5455"/>
            </a:avLst>
          </a:prstGeom>
          <a:solidFill>
            <a:srgbClr val="F1F3F5"/>
          </a:solidFill>
          <a:ln w="18491">
            <a:solidFill>
              <a:srgbClr val="4A5568"/>
            </a:solidFill>
            <a:prstDash val="solid"/>
          </a:ln>
        </p:spPr>
      </p:sp>
      <p:sp>
        <p:nvSpPr>
          <p:cNvPr id="19" name="sv_mapping text 17"/>
          <p:cNvSpPr txBox="1"/>
          <p:nvPr/>
        </p:nvSpPr>
        <p:spPr>
          <a:xfrm>
            <a:off x="9620469" y="4141779"/>
            <a:ext cx="809301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</a:t>
            </a:r>
            <a:endParaRPr lang="en-US" sz="946" dirty="0"/>
          </a:p>
        </p:txBody>
      </p:sp>
      <p:sp>
        <p:nvSpPr>
          <p:cNvPr id="20" name="sv_mapping text 18"/>
          <p:cNvSpPr txBox="1"/>
          <p:nvPr/>
        </p:nvSpPr>
        <p:spPr>
          <a:xfrm>
            <a:off x="9680527" y="4309675"/>
            <a:ext cx="689185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my_imp</a:t>
            </a:r>
            <a:endParaRPr lang="en-US" sz="1238" dirty="0"/>
          </a:p>
        </p:txBody>
      </p:sp>
      <p:sp>
        <p:nvSpPr>
          <p:cNvPr id="21" name="sv_mapping line 19"/>
          <p:cNvSpPr/>
          <p:nvPr/>
        </p:nvSpPr>
        <p:spPr>
          <a:xfrm>
            <a:off x="8684544" y="4571503"/>
            <a:ext cx="2681150" cy="0"/>
          </a:xfrm>
          <a:prstGeom prst="line">
            <a:avLst/>
          </a:prstGeom>
          <a:noFill/>
          <a:ln w="9245">
            <a:solidFill>
              <a:srgbClr val="4A5568"/>
            </a:solidFill>
            <a:prstDash val="solid"/>
          </a:ln>
        </p:spPr>
      </p:sp>
      <p:sp>
        <p:nvSpPr>
          <p:cNvPr id="22" name="sv_mapping text 20"/>
          <p:cNvSpPr txBox="1"/>
          <p:nvPr/>
        </p:nvSpPr>
        <p:spPr>
          <a:xfrm>
            <a:off x="8795489" y="4669134"/>
            <a:ext cx="2056017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soc_c_imp_if</a:t>
            </a:r>
            <a:endParaRPr lang="en-US" sz="1019" dirty="0"/>
          </a:p>
        </p:txBody>
      </p:sp>
      <p:sp>
        <p:nvSpPr>
          <p:cNvPr id="23" name="sv_mapping shape 21"/>
          <p:cNvSpPr/>
          <p:nvPr/>
        </p:nvSpPr>
        <p:spPr>
          <a:xfrm>
            <a:off x="826000" y="4053764"/>
            <a:ext cx="2681150" cy="101698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24" name="sv_mapping text 22"/>
          <p:cNvSpPr txBox="1"/>
          <p:nvPr/>
        </p:nvSpPr>
        <p:spPr>
          <a:xfrm>
            <a:off x="1422702" y="4141779"/>
            <a:ext cx="1487746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component</a:t>
            </a:r>
            <a:endParaRPr lang="en-US" sz="946" dirty="0"/>
          </a:p>
        </p:txBody>
      </p:sp>
      <p:sp>
        <p:nvSpPr>
          <p:cNvPr id="25" name="sv_mapping text 23"/>
          <p:cNvSpPr txBox="1"/>
          <p:nvPr/>
        </p:nvSpPr>
        <p:spPr>
          <a:xfrm>
            <a:off x="1874792" y="4309675"/>
            <a:ext cx="583566" cy="20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</a:t>
            </a:r>
            <a:endParaRPr lang="en-US" sz="1238" dirty="0"/>
          </a:p>
        </p:txBody>
      </p:sp>
      <p:sp>
        <p:nvSpPr>
          <p:cNvPr id="26" name="sv_mapping line 24"/>
          <p:cNvSpPr/>
          <p:nvPr/>
        </p:nvSpPr>
        <p:spPr>
          <a:xfrm>
            <a:off x="826000" y="4571503"/>
            <a:ext cx="2681150" cy="0"/>
          </a:xfrm>
          <a:prstGeom prst="line">
            <a:avLst/>
          </a:prstGeom>
          <a:noFill/>
          <a:ln w="9245">
            <a:solidFill>
              <a:srgbClr val="718096"/>
            </a:solidFill>
            <a:prstDash val="solid"/>
          </a:ln>
        </p:spPr>
      </p:sp>
      <p:sp>
        <p:nvSpPr>
          <p:cNvPr id="27" name="sv_mapping text 25"/>
          <p:cNvSpPr txBox="1"/>
          <p:nvPr/>
        </p:nvSpPr>
        <p:spPr>
          <a:xfrm>
            <a:off x="936945" y="4630673"/>
            <a:ext cx="1882057" cy="42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 tmr[2];</a:t>
            </a:r>
            <a:endParaRPr lang="en-US" sz="1019" dirty="0"/>
          </a:p>
          <a:p>
            <a:pPr algn="l" indent="0" marL="0">
              <a:lnSpc>
                <a:spcPts val="1602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delay_ticks(...)</a:t>
            </a:r>
            <a:endParaRPr lang="en-US" sz="1019" dirty="0"/>
          </a:p>
        </p:txBody>
      </p:sp>
      <p:sp>
        <p:nvSpPr>
          <p:cNvPr id="28" name="sv_mapping connector 26"/>
          <p:cNvSpPr/>
          <p:nvPr/>
        </p:nvSpPr>
        <p:spPr>
          <a:xfrm>
            <a:off x="3322244" y="2870360"/>
            <a:ext cx="2033976" cy="721137"/>
          </a:xfrm>
          <a:custGeom>
            <a:avLst/>
            <a:gdLst/>
            <a:ahLst/>
            <a:cxnLst/>
            <a:rect l="l" t="t" r="r" b="b"/>
            <a:pathLst>
              <a:path w="2033976" h="721137">
                <a:moveTo>
                  <a:pt x="2033976" y="721137"/>
                </a:moveTo>
                <a:lnTo>
                  <a:pt x="0" y="0"/>
                </a:lnTo>
              </a:path>
            </a:pathLst>
          </a:custGeom>
          <a:ln w="18491">
            <a:solidFill>
              <a:srgbClr val="6B46C1"/>
            </a:solidFill>
            <a:prstDash val="dash"/>
            <a:tailEnd type="triangle"/>
          </a:ln>
        </p:spPr>
      </p:sp>
      <p:sp>
        <p:nvSpPr>
          <p:cNvPr id="29" name="sv_mapping text 27"/>
          <p:cNvSpPr txBox="1"/>
          <p:nvPr/>
        </p:nvSpPr>
        <p:spPr>
          <a:xfrm>
            <a:off x="3842128" y="3244981"/>
            <a:ext cx="809301" cy="16271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</a:t>
            </a:r>
            <a:endParaRPr lang="en-US" sz="946" dirty="0"/>
          </a:p>
        </p:txBody>
      </p:sp>
      <p:sp>
        <p:nvSpPr>
          <p:cNvPr id="30" name="sv_mapping connector 28"/>
          <p:cNvSpPr/>
          <p:nvPr/>
        </p:nvSpPr>
        <p:spPr>
          <a:xfrm>
            <a:off x="6835475" y="2870360"/>
            <a:ext cx="2033976" cy="721137"/>
          </a:xfrm>
          <a:custGeom>
            <a:avLst/>
            <a:gdLst/>
            <a:ahLst/>
            <a:cxnLst/>
            <a:rect l="l" t="t" r="r" b="b"/>
            <a:pathLst>
              <a:path w="2033976" h="721137">
                <a:moveTo>
                  <a:pt x="0" y="721137"/>
                </a:moveTo>
                <a:lnTo>
                  <a:pt x="2033976" y="0"/>
                </a:lnTo>
              </a:path>
            </a:pathLst>
          </a:custGeom>
          <a:ln w="18491">
            <a:solidFill>
              <a:srgbClr val="2F855A"/>
            </a:solidFill>
            <a:prstDash val="dash"/>
            <a:tailEnd type="triangle"/>
          </a:ln>
        </p:spPr>
      </p:sp>
      <p:sp>
        <p:nvSpPr>
          <p:cNvPr id="31" name="sv_mapping text 29"/>
          <p:cNvSpPr txBox="1"/>
          <p:nvPr/>
        </p:nvSpPr>
        <p:spPr>
          <a:xfrm>
            <a:off x="7540266" y="3244981"/>
            <a:ext cx="809301" cy="16271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</a:t>
            </a:r>
            <a:endParaRPr lang="en-US" sz="946" dirty="0"/>
          </a:p>
        </p:txBody>
      </p:sp>
      <p:sp>
        <p:nvSpPr>
          <p:cNvPr id="32" name="sv_mapping line 30"/>
          <p:cNvSpPr/>
          <p:nvPr/>
        </p:nvSpPr>
        <p:spPr>
          <a:xfrm flipV="1">
            <a:off x="10025120" y="2888850"/>
            <a:ext cx="0" cy="1164914"/>
          </a:xfrm>
          <a:prstGeom prst="line">
            <a:avLst/>
          </a:prstGeom>
          <a:noFill/>
          <a:ln w="18491">
            <a:solidFill>
              <a:srgbClr val="4A5568"/>
            </a:solidFill>
            <a:prstDash val="dash"/>
            <a:tailEnd type="triangle"/>
          </a:ln>
        </p:spPr>
      </p:sp>
      <p:sp>
        <p:nvSpPr>
          <p:cNvPr id="33" name="sv_mapping text 31"/>
          <p:cNvSpPr txBox="1"/>
          <p:nvPr/>
        </p:nvSpPr>
        <p:spPr>
          <a:xfrm>
            <a:off x="9620469" y="3429888"/>
            <a:ext cx="809301" cy="16271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</a:t>
            </a:r>
            <a:endParaRPr lang="en-US" sz="946" dirty="0"/>
          </a:p>
        </p:txBody>
      </p:sp>
      <p:sp>
        <p:nvSpPr>
          <p:cNvPr id="34" name="sv_mapping line 32"/>
          <p:cNvSpPr/>
          <p:nvPr/>
        </p:nvSpPr>
        <p:spPr>
          <a:xfrm flipH="1">
            <a:off x="3544132" y="4562258"/>
            <a:ext cx="517739" cy="0"/>
          </a:xfrm>
          <a:prstGeom prst="line">
            <a:avLst/>
          </a:prstGeom>
          <a:noFill/>
          <a:ln w="18491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35" name="sv_mapping text 33"/>
          <p:cNvSpPr txBox="1"/>
          <p:nvPr/>
        </p:nvSpPr>
        <p:spPr>
          <a:xfrm>
            <a:off x="3624500" y="4354422"/>
            <a:ext cx="357003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946" dirty="0"/>
          </a:p>
        </p:txBody>
      </p:sp>
      <p:sp>
        <p:nvSpPr>
          <p:cNvPr id="36" name="sv_mapping line 34"/>
          <p:cNvSpPr/>
          <p:nvPr/>
        </p:nvSpPr>
        <p:spPr>
          <a:xfrm>
            <a:off x="8129824" y="4562258"/>
            <a:ext cx="517739" cy="0"/>
          </a:xfrm>
          <a:prstGeom prst="line">
            <a:avLst/>
          </a:prstGeom>
          <a:noFill/>
          <a:ln w="18491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37" name="sv_mapping text 35"/>
          <p:cNvSpPr txBox="1"/>
          <p:nvPr/>
        </p:nvSpPr>
        <p:spPr>
          <a:xfrm>
            <a:off x="8172500" y="4354422"/>
            <a:ext cx="432386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946" dirty="0"/>
          </a:p>
        </p:txBody>
      </p:sp>
      <p:sp>
        <p:nvSpPr>
          <p:cNvPr id="38" name="sv_mapping text 36"/>
          <p:cNvSpPr txBox="1"/>
          <p:nvPr/>
        </p:nvSpPr>
        <p:spPr>
          <a:xfrm>
            <a:off x="2774461" y="5348112"/>
            <a:ext cx="6642774" cy="48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65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create() builds the tree, runs initialize(), returns the export handle.</a:t>
            </a:r>
            <a:endParaRPr lang="en-US" sz="1165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165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handle IS the state — one per device instance.</a:t>
            </a:r>
            <a:endParaRPr lang="en-US" sz="116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SystemVerilog: what you write</a:t>
            </a:r>
            <a:endParaRPr lang="en-US" sz="3200" dirty="0"/>
          </a:p>
        </p:txBody>
      </p:sp>
      <p:sp>
        <p:nvSpPr>
          <p:cNvPr id="3" name="sv usage card"/>
          <p:cNvSpPr/>
          <p:nvPr/>
        </p:nvSpPr>
        <p:spPr>
          <a:xfrm>
            <a:off x="548640" y="1280160"/>
            <a:ext cx="11094415" cy="3295650"/>
          </a:xfrm>
          <a:prstGeom prst="roundRect">
            <a:avLst>
              <a:gd name="adj" fmla="val 166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v usage"/>
          <p:cNvSpPr txBox="1"/>
          <p:nvPr/>
        </p:nvSpPr>
        <p:spPr>
          <a:xfrm>
            <a:off x="685800" y="1389888"/>
            <a:ext cx="10820095" cy="3076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my_imp implements soc_c_imp_if;          // IMPORT: you implement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task write32(addr_handle_t addr, bit [31:0] data);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start a bus sequence, or call a uvm_reg backdoor ... */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endtask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task read32(addr_handle_t addr, output bit [31:0] data); ... endtask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task plat_delay_us(input int us);  #(us * 1us);  endtask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begin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my_imp        imp = new();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soc_c_ctxt_if soc = soc_c_root#(my_imp)::create(imp, 64'h4000_0000);  // FACTORY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soc.delay_ticks(1, 35);                                                // EXPORT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5013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Operations are </a:t>
            </a:r>
            <a:r>
              <a:rPr lang="en-US" sz="1800" b="1" dirty="0">
                <a:solidFill>
                  <a:schemeClr val="tx1"/>
                </a:solidFill>
              </a:rPr>
              <a:t>tasks</a:t>
            </a:r>
            <a:r>
              <a:rPr lang="en-US" sz="1800" dirty="0">
                <a:solidFill>
                  <a:schemeClr val="tx1"/>
                </a:solidFill>
              </a:rPr>
              <a:t>, so they may consume time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r>
              <a:rPr lang="en-US" sz="1800" dirty="0">
                <a:solidFill>
                  <a:schemeClr val="tx1"/>
                </a:solidFill>
              </a:rPr>
              <a:t> per device instance; the returned handle holds the state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 mapping</a:t>
            </a:r>
            <a:endParaRPr lang="en-US" sz="3200" dirty="0"/>
          </a:p>
        </p:txBody>
      </p:sp>
      <p:sp>
        <p:nvSpPr>
          <p:cNvPr id="3" name="c_mapping box 1"/>
          <p:cNvSpPr/>
          <p:nvPr/>
        </p:nvSpPr>
        <p:spPr>
          <a:xfrm>
            <a:off x="826000" y="1557520"/>
            <a:ext cx="4807580" cy="1664162"/>
          </a:xfrm>
          <a:prstGeom prst="roundRect">
            <a:avLst>
              <a:gd name="adj" fmla="val 5556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72114" rIns="73963" bIns="36981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238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complete struct types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timer_c {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      id;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pssc_addr_t base;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timer_c;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soc_c { timer_c tmr[2]; } soc_c;</a:t>
            </a:r>
            <a:endParaRPr lang="en-US" sz="1238" dirty="0"/>
          </a:p>
        </p:txBody>
      </p:sp>
      <p:sp>
        <p:nvSpPr>
          <p:cNvPr id="4" name="c_mapping box 2"/>
          <p:cNvSpPr/>
          <p:nvPr/>
        </p:nvSpPr>
        <p:spPr>
          <a:xfrm>
            <a:off x="826000" y="3499043"/>
            <a:ext cx="4807580" cy="1664162"/>
          </a:xfrm>
          <a:prstGeom prst="roundRect">
            <a:avLst>
              <a:gd name="adj" fmla="val 5556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  <p:txBody>
          <a:bodyPr wrap="square" lIns="120189" tIns="72114" rIns="73963" bIns="36981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238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API + lifecycle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soc_init(soc_c *_self, pssc_addr_t base);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soc_delay_ticks(soc_c *_self, int t,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uint32_t ticks);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timer_start(timer_c *_self, uint32_t ticks);</a:t>
            </a:r>
            <a:endParaRPr lang="en-US" sz="1238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&lt;prefix&gt;_&lt;function&gt;(self, ...)</a:t>
            </a:r>
            <a:endParaRPr lang="en-US" sz="1238" dirty="0"/>
          </a:p>
        </p:txBody>
      </p:sp>
      <p:sp>
        <p:nvSpPr>
          <p:cNvPr id="5" name="c_mapping box 3"/>
          <p:cNvSpPr/>
          <p:nvPr/>
        </p:nvSpPr>
        <p:spPr>
          <a:xfrm>
            <a:off x="6558115" y="1557520"/>
            <a:ext cx="4807580" cy="1201895"/>
          </a:xfrm>
          <a:prstGeom prst="roundRect">
            <a:avLst>
              <a:gd name="adj" fmla="val 7692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  <p:txBody>
          <a:bodyPr wrap="square" lIns="120189" tIns="57321" rIns="73963" bIns="36981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API: model imports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named exactly as the model names them */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plat_delay_us(int us);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+ pssc_message() if the model reports */</a:t>
            </a:r>
            <a:endParaRPr lang="en-US" sz="1238" dirty="0"/>
          </a:p>
        </p:txBody>
      </p:sp>
      <p:sp>
        <p:nvSpPr>
          <p:cNvPr id="6" name="c_mapping box 4"/>
          <p:cNvSpPr/>
          <p:nvPr/>
        </p:nvSpPr>
        <p:spPr>
          <a:xfrm>
            <a:off x="6558115" y="3036776"/>
            <a:ext cx="4807580" cy="2126430"/>
          </a:xfrm>
          <a:prstGeom prst="roundRect">
            <a:avLst>
              <a:gd name="adj" fmla="val 4348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  <p:txBody>
          <a:bodyPr wrap="square" lIns="120189" tIns="57321" rIns="73963" bIns="36981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238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API: memory seam (pick one)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--mem-access pointer    *(volatile u32*)a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--mem-access functions  pssc_mem_read32(a)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--link-style vtable     bus-&gt;read32(ctx,a)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--lifecycle static      no malloc</a:t>
            </a:r>
            <a:endParaRPr lang="en-US" sz="1238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19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--addr-bits 32          narrower handles</a:t>
            </a:r>
            <a:endParaRPr lang="en-US" sz="12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C: what you write</a:t>
            </a:r>
            <a:endParaRPr lang="en-US" sz="3200" dirty="0"/>
          </a:p>
        </p:txBody>
      </p:sp>
      <p:sp>
        <p:nvSpPr>
          <p:cNvPr id="3" name="c usage card"/>
          <p:cNvSpPr/>
          <p:nvPr/>
        </p:nvSpPr>
        <p:spPr>
          <a:xfrm>
            <a:off x="548640" y="1280160"/>
            <a:ext cx="11094415" cy="3760470"/>
          </a:xfrm>
          <a:prstGeom prst="roundRect">
            <a:avLst>
              <a:gd name="adj" fmla="val 145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c usage"/>
          <p:cNvSpPr txBox="1"/>
          <p:nvPr/>
        </p:nvSpPr>
        <p:spPr>
          <a:xfrm>
            <a:off x="685800" y="1389888"/>
            <a:ext cx="10820095" cy="354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"soc.h"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IMPORT: memory seam (--mem-access functions) */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pssc_mem_read32 (pssc_addr_t a)             { return *(volatile uint32_t *)a; }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    pssc_mem_write32(pssc_addr_t a, uint32_t d) { *(volatile uint32_t *)a = d; }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IMPORT: the model's own imports */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plat_delay_us(int us) { busy_wait_us(us); }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soc_c soc;                       /* STATE: --lifecycle static, no malloc */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soc_init(&amp;soc, 0x40000000u);        /* INIT */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soc_delay_ticks(&amp;soc, 1, 35);       /* EXPORT: &lt;prefix&gt;_&lt;function&gt;(self, ...) */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1495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Python (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op-model-py</a:t>
            </a:r>
            <a:r>
              <a:rPr lang="en-US" sz="1800" dirty="0">
                <a:solidFill>
                  <a:schemeClr val="tx1"/>
                </a:solidFill>
              </a:rPr>
              <a:t>) and C++ (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op-model-cpp</a:t>
            </a:r>
            <a:r>
              <a:rPr lang="en-US" sz="1800" dirty="0">
                <a:solidFill>
                  <a:schemeClr val="tx1"/>
                </a:solidFill>
              </a:rPr>
              <a:t>) follow the same shape: an import </a:t>
            </a:r>
            <a:r>
              <a:rPr lang="en-US" sz="1800" b="1" dirty="0">
                <a:solidFill>
                  <a:schemeClr val="tx1"/>
                </a:solidFill>
              </a:rPr>
              <a:t>protocol/interface</a:t>
            </a:r>
            <a:r>
              <a:rPr lang="en-US" sz="1800" dirty="0">
                <a:solidFill>
                  <a:schemeClr val="tx1"/>
                </a:solidFill>
              </a:rPr>
              <a:t>, a root </a:t>
            </a:r>
            <a:r>
              <a:rPr lang="en-US" sz="1800" b="1" dirty="0">
                <a:solidFill>
                  <a:schemeClr val="tx1"/>
                </a:solidFill>
              </a:rPr>
              <a:t>class</a:t>
            </a:r>
            <a:r>
              <a:rPr lang="en-US" sz="1800" dirty="0">
                <a:solidFill>
                  <a:schemeClr val="tx1"/>
                </a:solidFill>
              </a:rPr>
              <a:t>, and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create()</a:t>
            </a:r>
            <a:r>
              <a:rPr lang="en-US" sz="1800" dirty="0">
                <a:solidFill>
                  <a:schemeClr val="tx1"/>
                </a:solidFill>
              </a:rPr>
              <a:t> or a constructor.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 1: Core structure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B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labs/lab1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 goals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Describe an operation model in PSS:</a:t>
            </a:r>
            <a:endParaRPr lang="en-US" sz="20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</a:t>
            </a:r>
            <a:r>
              <a:rPr lang="en-US" sz="2000" b="1" dirty="0">
                <a:solidFill>
                  <a:schemeClr val="tx1"/>
                </a:solidFill>
              </a:rPr>
              <a:t>component tree</a:t>
            </a:r>
            <a:r>
              <a:rPr lang="en-US" sz="2000" dirty="0">
                <a:solidFill>
                  <a:schemeClr val="tx1"/>
                </a:solidFill>
              </a:rPr>
              <a:t> holding </a:t>
            </a:r>
            <a:r>
              <a:rPr lang="en-US" sz="2000" b="1" dirty="0">
                <a:solidFill>
                  <a:schemeClr val="tx1"/>
                </a:solidFill>
              </a:rPr>
              <a:t>state</a:t>
            </a:r>
            <a:endParaRPr lang="en-US" sz="20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 </a:t>
            </a:r>
            <a:r>
              <a:rPr lang="en-US" sz="2000" b="1" dirty="0">
                <a:solidFill>
                  <a:schemeClr val="tx1"/>
                </a:solidFill>
              </a:rPr>
              <a:t>initialization</a:t>
            </a:r>
            <a:r>
              <a:rPr lang="en-US" sz="2000" dirty="0">
                <a:solidFill>
                  <a:schemeClr val="tx1"/>
                </a:solidFill>
              </a:rPr>
              <a:t> function</a:t>
            </a:r>
            <a:endParaRPr lang="en-US" sz="20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operations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exports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b="1" dirty="0">
                <a:solidFill>
                  <a:schemeClr val="tx1"/>
                </a:solidFill>
              </a:rPr>
              <a:t>imports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Generate it with </a:t>
            </a:r>
            <a:r>
              <a:rPr lang="en-US" sz="17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</a:t>
            </a:r>
            <a:r>
              <a:rPr lang="en-US" sz="2000" dirty="0">
                <a:solidFill>
                  <a:schemeClr val="tx1"/>
                </a:solidFill>
              </a:rPr>
              <a:t> in four flavors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Integrate it into three environments: </a:t>
            </a:r>
            <a:r>
              <a:rPr lang="en-US" sz="2000" b="1" dirty="0">
                <a:solidFill>
                  <a:schemeClr val="tx1"/>
                </a:solidFill>
              </a:rPr>
              <a:t>C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SystemVerilog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Python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See that all three drive the device </a:t>
            </a:r>
            <a:r>
              <a:rPr lang="en-US" sz="2000" b="1" dirty="0">
                <a:solidFill>
                  <a:schemeClr val="tx1"/>
                </a:solidFill>
              </a:rPr>
              <a:t>identically</a:t>
            </a:r>
            <a:endParaRPr lang="en-US" sz="2000" dirty="0"/>
          </a:p>
        </p:txBody>
      </p:sp>
      <p:sp>
        <p:nvSpPr>
          <p:cNvPr id="4" name="env C"/>
          <p:cNvSpPr/>
          <p:nvPr/>
        </p:nvSpPr>
        <p:spPr>
          <a:xfrm>
            <a:off x="7680960" y="16459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6F6EC"/>
          </a:solidFill>
          <a:ln w="19050">
            <a:solidFill>
              <a:srgbClr val="2F85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55A"/>
                </a:solidFill>
              </a:rPr>
              <a:t>C</a:t>
            </a:r>
            <a:endParaRPr lang="en-US" sz="2000" dirty="0"/>
          </a:p>
        </p:txBody>
      </p:sp>
      <p:sp>
        <p:nvSpPr>
          <p:cNvPr id="5" name="env SystemVerilog"/>
          <p:cNvSpPr/>
          <p:nvPr/>
        </p:nvSpPr>
        <p:spPr>
          <a:xfrm>
            <a:off x="7680960" y="2834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3EFFF"/>
          </a:solidFill>
          <a:ln w="19050">
            <a:solidFill>
              <a:srgbClr val="6B46C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6C1"/>
                </a:solidFill>
              </a:rPr>
              <a:t>SystemVerilog</a:t>
            </a:r>
            <a:endParaRPr lang="en-US" sz="2000" dirty="0"/>
          </a:p>
        </p:txBody>
      </p:sp>
      <p:sp>
        <p:nvSpPr>
          <p:cNvPr id="6" name="env Python"/>
          <p:cNvSpPr/>
          <p:nvPr/>
        </p:nvSpPr>
        <p:spPr>
          <a:xfrm>
            <a:off x="7680960" y="40233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9050">
            <a:solidFill>
              <a:srgbClr val="B7791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791F"/>
                </a:solidFill>
              </a:rPr>
              <a:t>Python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same model · same bus traffic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device and the model</a:t>
            </a:r>
            <a:endParaRPr lang="en-US" sz="3200" dirty="0"/>
          </a:p>
        </p:txBody>
      </p:sp>
      <p:sp>
        <p:nvSpPr>
          <p:cNvPr id="3" name="lab1_model shape 1"/>
          <p:cNvSpPr/>
          <p:nvPr/>
        </p:nvSpPr>
        <p:spPr>
          <a:xfrm>
            <a:off x="8756752" y="1546250"/>
            <a:ext cx="2394814" cy="3902659"/>
          </a:xfrm>
          <a:prstGeom prst="roundRect">
            <a:avLst>
              <a:gd name="adj" fmla="val 3704"/>
            </a:avLst>
          </a:prstGeom>
          <a:solidFill>
            <a:srgbClr val="FFF1E8"/>
          </a:solidFill>
          <a:ln w="17739">
            <a:solidFill>
              <a:srgbClr val="9C4221"/>
            </a:solidFill>
            <a:prstDash val="solid"/>
          </a:ln>
        </p:spPr>
      </p:sp>
      <p:sp>
        <p:nvSpPr>
          <p:cNvPr id="4" name="lab1_model text 2"/>
          <p:cNvSpPr txBox="1"/>
          <p:nvPr/>
        </p:nvSpPr>
        <p:spPr>
          <a:xfrm>
            <a:off x="9037459" y="1676103"/>
            <a:ext cx="1833398" cy="18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1"/>
              </a:lnSpc>
              <a:buNone/>
            </a:pPr>
            <a:r>
              <a:rPr lang="en-US" sz="1117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@ 0x4000_0000</a:t>
            </a:r>
            <a:endParaRPr lang="en-US" sz="1117" dirty="0"/>
          </a:p>
        </p:txBody>
      </p:sp>
      <p:sp>
        <p:nvSpPr>
          <p:cNvPr id="5" name="lab1_model shape 3"/>
          <p:cNvSpPr/>
          <p:nvPr/>
        </p:nvSpPr>
        <p:spPr>
          <a:xfrm>
            <a:off x="8934145" y="2034083"/>
            <a:ext cx="2040026" cy="1507846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39">
            <a:solidFill>
              <a:srgbClr val="718096"/>
            </a:solidFill>
            <a:prstDash val="solid"/>
          </a:ln>
        </p:spPr>
      </p:sp>
      <p:sp>
        <p:nvSpPr>
          <p:cNvPr id="6" name="lab1_model text 4"/>
          <p:cNvSpPr txBox="1"/>
          <p:nvPr/>
        </p:nvSpPr>
        <p:spPr>
          <a:xfrm>
            <a:off x="9067190" y="2136971"/>
            <a:ext cx="1394314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1048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+0x000  timer 0</a:t>
            </a:r>
            <a:endParaRPr lang="en-US" sz="1048" dirty="0"/>
          </a:p>
        </p:txBody>
      </p:sp>
      <p:sp>
        <p:nvSpPr>
          <p:cNvPr id="7" name="lab1_model text 5"/>
          <p:cNvSpPr txBox="1"/>
          <p:nvPr/>
        </p:nvSpPr>
        <p:spPr>
          <a:xfrm>
            <a:off x="9067190" y="2339200"/>
            <a:ext cx="1680414" cy="86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5"/>
              </a:lnSpc>
              <a:buNone/>
            </a:pPr>
            <a:r>
              <a:rPr lang="en-US" sz="908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 CTRL   EN, IRQ_EN</a:t>
            </a:r>
            <a:endParaRPr lang="en-US" sz="908" dirty="0"/>
          </a:p>
          <a:p>
            <a:pPr algn="l" indent="0" marL="0">
              <a:lnSpc>
                <a:spcPts val="2235"/>
              </a:lnSpc>
              <a:buNone/>
            </a:pPr>
            <a:r>
              <a:rPr lang="en-US" sz="908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 LOAD</a:t>
            </a:r>
            <a:endParaRPr lang="en-US" sz="908" dirty="0"/>
          </a:p>
          <a:p>
            <a:pPr algn="l" indent="0" marL="0">
              <a:lnSpc>
                <a:spcPts val="2235"/>
              </a:lnSpc>
              <a:buNone/>
            </a:pPr>
            <a:r>
              <a:rPr lang="en-US" sz="908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 STATUS DONE (W1C)</a:t>
            </a:r>
            <a:endParaRPr lang="en-US" sz="908" dirty="0"/>
          </a:p>
        </p:txBody>
      </p:sp>
      <p:sp>
        <p:nvSpPr>
          <p:cNvPr id="8" name="lab1_model shape 6"/>
          <p:cNvSpPr/>
          <p:nvPr/>
        </p:nvSpPr>
        <p:spPr>
          <a:xfrm>
            <a:off x="8934145" y="3719322"/>
            <a:ext cx="2040026" cy="1507846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7739">
            <a:solidFill>
              <a:srgbClr val="718096"/>
            </a:solidFill>
            <a:prstDash val="solid"/>
          </a:ln>
        </p:spPr>
      </p:sp>
      <p:sp>
        <p:nvSpPr>
          <p:cNvPr id="9" name="lab1_model text 7"/>
          <p:cNvSpPr txBox="1"/>
          <p:nvPr/>
        </p:nvSpPr>
        <p:spPr>
          <a:xfrm>
            <a:off x="9067190" y="3822210"/>
            <a:ext cx="1394314" cy="17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1048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+0x100  timer 1</a:t>
            </a:r>
            <a:endParaRPr lang="en-US" sz="1048" dirty="0"/>
          </a:p>
        </p:txBody>
      </p:sp>
      <p:sp>
        <p:nvSpPr>
          <p:cNvPr id="10" name="lab1_model text 8"/>
          <p:cNvSpPr txBox="1"/>
          <p:nvPr/>
        </p:nvSpPr>
        <p:spPr>
          <a:xfrm>
            <a:off x="9067190" y="4024439"/>
            <a:ext cx="1680414" cy="86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5"/>
              </a:lnSpc>
              <a:buNone/>
            </a:pPr>
            <a:r>
              <a:rPr lang="en-US" sz="908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 CTRL   EN, IRQ_EN</a:t>
            </a:r>
            <a:endParaRPr lang="en-US" sz="908" dirty="0"/>
          </a:p>
          <a:p>
            <a:pPr algn="l" indent="0" marL="0">
              <a:lnSpc>
                <a:spcPts val="2235"/>
              </a:lnSpc>
              <a:buNone/>
            </a:pPr>
            <a:r>
              <a:rPr lang="en-US" sz="908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 LOAD</a:t>
            </a:r>
            <a:endParaRPr lang="en-US" sz="908" dirty="0"/>
          </a:p>
          <a:p>
            <a:pPr algn="l" indent="0" marL="0">
              <a:lnSpc>
                <a:spcPts val="2235"/>
              </a:lnSpc>
              <a:buNone/>
            </a:pPr>
            <a:r>
              <a:rPr lang="en-US" sz="908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0x8 STATUS DONE (W1C)</a:t>
            </a:r>
            <a:endParaRPr lang="en-US" sz="908" dirty="0"/>
          </a:p>
        </p:txBody>
      </p:sp>
      <p:sp>
        <p:nvSpPr>
          <p:cNvPr id="11" name="lab1_model box 9"/>
          <p:cNvSpPr/>
          <p:nvPr/>
        </p:nvSpPr>
        <p:spPr>
          <a:xfrm>
            <a:off x="1040130" y="1546250"/>
            <a:ext cx="3370478" cy="1685239"/>
          </a:xfrm>
          <a:prstGeom prst="roundRect">
            <a:avLst>
              <a:gd name="adj" fmla="val 5263"/>
            </a:avLst>
          </a:prstGeom>
          <a:solidFill>
            <a:srgbClr val="EBF4FF"/>
          </a:solidFill>
          <a:ln w="17739">
            <a:solidFill>
              <a:srgbClr val="2B6CB0"/>
            </a:solidFill>
            <a:prstDash val="solid"/>
          </a:ln>
        </p:spPr>
        <p:txBody>
          <a:bodyPr wrap="square" lIns="115306" tIns="54992" rIns="70957" bIns="35479" rtlCol="0" anchor="t"/>
          <a:lstStyle/>
          <a:p>
            <a:pPr algn="l" indent="0" marL="0">
              <a:lnSpc>
                <a:spcPts val="1816"/>
              </a:lnSpc>
              <a:buNone/>
            </a:pPr>
            <a:r>
              <a:rPr lang="en-US" sz="1187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soc_c  (root)</a:t>
            </a:r>
            <a:endParaRPr lang="en-US" sz="1187" dirty="0"/>
          </a:p>
          <a:p>
            <a:pPr algn="l" indent="0" marL="0">
              <a:lnSpc>
                <a:spcPts val="181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 tmr[2];</a:t>
            </a:r>
            <a:endParaRPr lang="en-US" sz="1187" dirty="0"/>
          </a:p>
          <a:p>
            <a:pPr algn="l" indent="0" marL="0">
              <a:lnSpc>
                <a:spcPts val="1816"/>
              </a:lnSpc>
              <a:buNone/>
            </a:pPr>
            <a:endParaRPr lang="en-US" sz="1187" dirty="0"/>
          </a:p>
          <a:p>
            <a:pPr algn="l" indent="0" marL="0">
              <a:lnSpc>
                <a:spcPts val="181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initialize(base)</a:t>
            </a:r>
            <a:endParaRPr lang="en-US" sz="1187" dirty="0"/>
          </a:p>
          <a:p>
            <a:pPr algn="l" indent="0" marL="0">
              <a:lnSpc>
                <a:spcPts val="181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delay_ticks(t, ticks)   export</a:t>
            </a:r>
            <a:endParaRPr lang="en-US" sz="1187" dirty="0"/>
          </a:p>
        </p:txBody>
      </p:sp>
      <p:sp>
        <p:nvSpPr>
          <p:cNvPr id="12" name="lab1_model box 10"/>
          <p:cNvSpPr/>
          <p:nvPr/>
        </p:nvSpPr>
        <p:spPr>
          <a:xfrm>
            <a:off x="1040130" y="3674974"/>
            <a:ext cx="3370478" cy="1773936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7739">
            <a:solidFill>
              <a:srgbClr val="2B6CB0"/>
            </a:solidFill>
            <a:prstDash val="solid"/>
          </a:ln>
        </p:spPr>
        <p:txBody>
          <a:bodyPr wrap="square" lIns="115306" tIns="69184" rIns="70957" bIns="35479" rtlCol="0" anchor="t"/>
          <a:lstStyle/>
          <a:p>
            <a:pPr algn="l" indent="0" marL="0">
              <a:lnSpc>
                <a:spcPts val="1676"/>
              </a:lnSpc>
              <a:buNone/>
            </a:pPr>
            <a:r>
              <a:rPr lang="en-US" sz="1187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timer_c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id;  addr_handle_t base;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initialize(i, b)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start(ticks)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is_done() -&gt; bool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1048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wait_done(poll_us)</a:t>
            </a:r>
            <a:endParaRPr lang="en-US" sz="1187" dirty="0"/>
          </a:p>
        </p:txBody>
      </p:sp>
      <p:sp>
        <p:nvSpPr>
          <p:cNvPr id="13" name="lab1_model line 11"/>
          <p:cNvSpPr/>
          <p:nvPr/>
        </p:nvSpPr>
        <p:spPr>
          <a:xfrm>
            <a:off x="2725369" y="3231490"/>
            <a:ext cx="0" cy="408005"/>
          </a:xfrm>
          <a:prstGeom prst="line">
            <a:avLst/>
          </a:prstGeom>
          <a:noFill/>
          <a:ln w="17739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4" name="lab1_model text 12"/>
          <p:cNvSpPr txBox="1"/>
          <p:nvPr/>
        </p:nvSpPr>
        <p:spPr>
          <a:xfrm>
            <a:off x="2156361" y="3369147"/>
            <a:ext cx="1138015" cy="15610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08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tmr[0], tmr[1]</a:t>
            </a:r>
            <a:endParaRPr lang="en-US" sz="908" dirty="0"/>
          </a:p>
        </p:txBody>
      </p:sp>
      <p:sp>
        <p:nvSpPr>
          <p:cNvPr id="15" name="lab1_model box 13"/>
          <p:cNvSpPr/>
          <p:nvPr/>
        </p:nvSpPr>
        <p:spPr>
          <a:xfrm>
            <a:off x="5120183" y="4473245"/>
            <a:ext cx="2926994" cy="975665"/>
          </a:xfrm>
          <a:prstGeom prst="roundRect">
            <a:avLst>
              <a:gd name="adj" fmla="val 9091"/>
            </a:avLst>
          </a:prstGeom>
          <a:solidFill>
            <a:srgbClr val="E6F6EC"/>
          </a:solidFill>
          <a:ln w="17739">
            <a:solidFill>
              <a:srgbClr val="2F855A"/>
            </a:solidFill>
            <a:prstDash val="solid"/>
          </a:ln>
        </p:spPr>
        <p:txBody>
          <a:bodyPr wrap="square" lIns="115306" tIns="69184" rIns="70957" bIns="35479" rtlCol="0" anchor="t"/>
          <a:lstStyle/>
          <a:p>
            <a:pPr algn="l" indent="0" marL="0">
              <a:lnSpc>
                <a:spcPts val="1676"/>
              </a:lnSpc>
              <a:buNone/>
            </a:pPr>
            <a:r>
              <a:rPr lang="en-US" sz="1187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plat_pkg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978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target function</a:t>
            </a:r>
            <a:endParaRPr lang="en-US" sz="1187" dirty="0"/>
          </a:p>
          <a:p>
            <a:pPr algn="l" indent="0" marL="0">
              <a:lnSpc>
                <a:spcPts val="1676"/>
              </a:lnSpc>
              <a:buNone/>
            </a:pPr>
            <a:r>
              <a:rPr lang="en-US" sz="978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plat_delay_us(int us);</a:t>
            </a:r>
            <a:endParaRPr lang="en-US" sz="1187" dirty="0"/>
          </a:p>
        </p:txBody>
      </p:sp>
      <p:sp>
        <p:nvSpPr>
          <p:cNvPr id="16" name="lab1_model line 14"/>
          <p:cNvSpPr/>
          <p:nvPr/>
        </p:nvSpPr>
        <p:spPr>
          <a:xfrm flipV="1">
            <a:off x="4410608" y="5005426"/>
            <a:ext cx="674096" cy="177394"/>
          </a:xfrm>
          <a:prstGeom prst="line">
            <a:avLst/>
          </a:prstGeom>
          <a:noFill/>
          <a:ln w="17739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7" name="lab1_model text 15"/>
          <p:cNvSpPr txBox="1"/>
          <p:nvPr/>
        </p:nvSpPr>
        <p:spPr>
          <a:xfrm>
            <a:off x="4540248" y="5205171"/>
            <a:ext cx="414817" cy="156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08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908" dirty="0"/>
          </a:p>
        </p:txBody>
      </p:sp>
      <p:sp>
        <p:nvSpPr>
          <p:cNvPr id="18" name="lab1_model line 16"/>
          <p:cNvSpPr/>
          <p:nvPr/>
        </p:nvSpPr>
        <p:spPr>
          <a:xfrm flipV="1">
            <a:off x="4410608" y="2699309"/>
            <a:ext cx="4488058" cy="1507846"/>
          </a:xfrm>
          <a:prstGeom prst="line">
            <a:avLst/>
          </a:prstGeom>
          <a:noFill/>
          <a:ln w="17739">
            <a:solidFill>
              <a:srgbClr val="9C4221"/>
            </a:solidFill>
            <a:prstDash val="dash"/>
            <a:tailEnd type="triangle"/>
          </a:ln>
        </p:spPr>
      </p:sp>
      <p:sp>
        <p:nvSpPr>
          <p:cNvPr id="19" name="lab1_model text 17"/>
          <p:cNvSpPr txBox="1"/>
          <p:nvPr/>
        </p:nvSpPr>
        <p:spPr>
          <a:xfrm>
            <a:off x="5477879" y="3280450"/>
            <a:ext cx="2300298" cy="15610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08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 / read32 (base + off)</a:t>
            </a:r>
            <a:endParaRPr lang="en-US" sz="908" dirty="0"/>
          </a:p>
        </p:txBody>
      </p:sp>
      <p:sp>
        <p:nvSpPr>
          <p:cNvPr id="20" name="lab1_model line 18"/>
          <p:cNvSpPr/>
          <p:nvPr/>
        </p:nvSpPr>
        <p:spPr>
          <a:xfrm>
            <a:off x="4410608" y="2255825"/>
            <a:ext cx="4488058" cy="0"/>
          </a:xfrm>
          <a:prstGeom prst="line">
            <a:avLst/>
          </a:prstGeom>
          <a:noFill/>
          <a:ln w="17739">
            <a:solidFill>
              <a:srgbClr val="9C4221"/>
            </a:solidFill>
            <a:prstDash val="dash"/>
            <a:tailEnd type="triangle"/>
          </a:ln>
        </p:spPr>
      </p:sp>
      <p:sp>
        <p:nvSpPr>
          <p:cNvPr id="21" name="lab1_model text 19"/>
          <p:cNvSpPr txBox="1"/>
          <p:nvPr/>
        </p:nvSpPr>
        <p:spPr>
          <a:xfrm>
            <a:off x="5594108" y="2091913"/>
            <a:ext cx="2067842" cy="15610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0"/>
              </a:lnSpc>
              <a:buNone/>
            </a:pPr>
            <a:r>
              <a:rPr lang="en-US" sz="908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initialize: base + i*0x100</a:t>
            </a:r>
            <a:endParaRPr lang="en-US" sz="908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timer channels, raw register offsets for now (Lab 2 fixes that).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PSS: imports (</a:t>
            </a:r>
            <a:r>
              <a:rPr lang="en-US" sz="2750" b="1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pss/plat_pkg.pss</a:t>
            </a:r>
            <a:r>
              <a:rPr lang="en-US" sz="3200" b="1" dirty="0">
                <a:solidFill>
                  <a:schemeClr val="tx2"/>
                </a:solidFill>
              </a:rPr>
              <a:t>)</a:t>
            </a:r>
            <a:endParaRPr lang="en-US" sz="3200" dirty="0"/>
          </a:p>
        </p:txBody>
      </p:sp>
      <p:sp>
        <p:nvSpPr>
          <p:cNvPr id="3" name="plat_pkg card"/>
          <p:cNvSpPr/>
          <p:nvPr/>
        </p:nvSpPr>
        <p:spPr>
          <a:xfrm>
            <a:off x="548640" y="1280160"/>
            <a:ext cx="11094415" cy="166878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plat_pkg"/>
          <p:cNvSpPr txBox="1"/>
          <p:nvPr/>
        </p:nvSpPr>
        <p:spPr>
          <a:xfrm>
            <a:off x="685800" y="1389888"/>
            <a:ext cx="10820095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the operation model needs FROM its environment.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environment (UVM test, firmware, Python harness) implements these.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plat_pkg {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Wait for (at least) 'us' microseconds of device time.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target function void plat_delay_us(int us);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2326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target function</a:t>
            </a:r>
            <a:r>
              <a:rPr lang="en-US" sz="1800" dirty="0">
                <a:solidFill>
                  <a:schemeClr val="tx1"/>
                </a:solidFill>
              </a:rPr>
              <a:t> declares a </a:t>
            </a:r>
            <a:r>
              <a:rPr lang="en-US" sz="1800" b="1" dirty="0">
                <a:solidFill>
                  <a:schemeClr val="tx1"/>
                </a:solidFill>
              </a:rPr>
              <a:t>platform service</a:t>
            </a:r>
            <a:r>
              <a:rPr lang="en-US" sz="1800" dirty="0">
                <a:solidFill>
                  <a:schemeClr val="tx1"/>
                </a:solidFill>
              </a:rPr>
              <a:t>. The model only names it.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Memory access (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read32</a:t>
            </a:r>
            <a:r>
              <a:rPr lang="en-US" sz="1800" dirty="0">
                <a:solidFill>
                  <a:schemeClr val="tx1"/>
                </a:solidFill>
              </a:rPr>
              <a:t>/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</a:t>
            </a:r>
            <a:r>
              <a:rPr lang="en-US" sz="1800" dirty="0">
                <a:solidFill>
                  <a:schemeClr val="tx1"/>
                </a:solidFill>
              </a:rPr>
              <a:t>) is an implicit import, from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addr_reg_pkg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Each generator turns imports into the language's </a:t>
            </a:r>
            <a:r>
              <a:rPr lang="en-US" sz="1800" i="1" dirty="0">
                <a:solidFill>
                  <a:schemeClr val="tx1"/>
                </a:solidFill>
              </a:rPr>
              <a:t>"you implement this"</a:t>
            </a:r>
            <a:r>
              <a:rPr lang="en-US" sz="1800" dirty="0">
                <a:solidFill>
                  <a:schemeClr val="tx1"/>
                </a:solidFill>
              </a:rPr>
              <a:t> form:</a:t>
            </a:r>
            <a:endParaRPr lang="en-US" sz="18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SV: a method on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soc_c_imp_if</a:t>
            </a:r>
            <a:endParaRPr lang="en-US" sz="18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C: an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</a:t>
            </a:r>
            <a:r>
              <a:rPr lang="en-US" sz="1800" dirty="0">
                <a:solidFill>
                  <a:schemeClr val="tx1"/>
                </a:solidFill>
              </a:rPr>
              <a:t> prototype</a:t>
            </a:r>
            <a:endParaRPr lang="en-US" sz="18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Py: a method on a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PSS: a leaf component (</a:t>
            </a:r>
            <a:r>
              <a:rPr lang="en-US" sz="2750" b="1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pss/timer_c.pss</a:t>
            </a:r>
            <a:r>
              <a:rPr lang="en-US" sz="3200" b="1" dirty="0">
                <a:solidFill>
                  <a:schemeClr val="tx2"/>
                </a:solidFill>
              </a:rPr>
              <a:t>)</a:t>
            </a:r>
            <a:endParaRPr lang="en-US" sz="3200" dirty="0"/>
          </a:p>
        </p:txBody>
      </p:sp>
      <p:sp>
        <p:nvSpPr>
          <p:cNvPr id="3" name="timer_c card"/>
          <p:cNvSpPr/>
          <p:nvPr/>
        </p:nvSpPr>
        <p:spPr>
          <a:xfrm>
            <a:off x="548640" y="1188720"/>
            <a:ext cx="8138160" cy="5116195"/>
          </a:xfrm>
          <a:prstGeom prst="roundRect">
            <a:avLst>
              <a:gd name="adj" fmla="val 107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imer_c"/>
          <p:cNvSpPr txBox="1"/>
          <p:nvPr/>
        </p:nvSpPr>
        <p:spPr>
          <a:xfrm>
            <a:off x="685800" y="1298448"/>
            <a:ext cx="7863840" cy="48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timer_c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--- State: set once at initialization, read by every operation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         id;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addr_handle_t  base;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--- Initialization: bind this instance to its address window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solve function void initialize(int i, addr_handle_t b)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   = i;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 = b;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--- Operations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void start(bit[32] ticks)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write32(make_handle_from_handle(base, 0x8), 1);     // clear DONE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write32(make_handle_from_handle(base, 0x4), ticks); // LOAD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write32(make_handle_from_handle(base, 0x0), 1);     // EN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bool is_done()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bit[32] sts = read32(make_handle_from_handle(base, 0x8));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(sts &amp; 1) != 0;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void wait_done(int poll_us)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(!is_done()) { plat_delay_us(poll_us);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callout State"/>
          <p:cNvSpPr/>
          <p:nvPr/>
        </p:nvSpPr>
        <p:spPr>
          <a:xfrm>
            <a:off x="8961120" y="146304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19933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fields every operation reads</a:t>
            </a:r>
            <a:endParaRPr lang="en-US" sz="1400" dirty="0"/>
          </a:p>
        </p:txBody>
      </p:sp>
      <p:sp>
        <p:nvSpPr>
          <p:cNvPr id="8" name="callout Initialization"/>
          <p:cNvSpPr/>
          <p:nvPr/>
        </p:nvSpPr>
        <p:spPr>
          <a:xfrm>
            <a:off x="8961120" y="292608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Initialization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34564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function</a:t>
            </a:r>
            <a:r>
              <a:rPr lang="en-US" sz="1400" dirty="0">
                <a:solidFill>
                  <a:schemeClr val="tx1"/>
                </a:solidFill>
              </a:rPr>
              <a:t>: binds state once</a:t>
            </a:r>
            <a:endParaRPr lang="en-US" sz="1400" dirty="0"/>
          </a:p>
        </p:txBody>
      </p:sp>
      <p:sp>
        <p:nvSpPr>
          <p:cNvPr id="11" name="callout Operations"/>
          <p:cNvSpPr/>
          <p:nvPr/>
        </p:nvSpPr>
        <p:spPr>
          <a:xfrm>
            <a:off x="8961120" y="43891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Operations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4919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function</a:t>
            </a:r>
            <a:r>
              <a:rPr lang="en-US" sz="1400" dirty="0">
                <a:solidFill>
                  <a:schemeClr val="tx1"/>
                </a:solidFill>
              </a:rPr>
              <a:t>: touch the device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PSS: the root (</a:t>
            </a:r>
            <a:r>
              <a:rPr lang="en-US" sz="2750" b="1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pss/soc_c.pss</a:t>
            </a:r>
            <a:r>
              <a:rPr lang="en-US" sz="3200" b="1" dirty="0">
                <a:solidFill>
                  <a:schemeClr val="tx2"/>
                </a:solidFill>
              </a:rPr>
              <a:t>)</a:t>
            </a:r>
            <a:endParaRPr lang="en-US" sz="3200" dirty="0"/>
          </a:p>
        </p:txBody>
      </p:sp>
      <p:sp>
        <p:nvSpPr>
          <p:cNvPr id="3" name="soc_c card"/>
          <p:cNvSpPr/>
          <p:nvPr/>
        </p:nvSpPr>
        <p:spPr>
          <a:xfrm>
            <a:off x="548640" y="1188720"/>
            <a:ext cx="11094415" cy="3899916"/>
          </a:xfrm>
          <a:prstGeom prst="roundRect">
            <a:avLst>
              <a:gd name="adj" fmla="val 14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oc_c"/>
          <p:cNvSpPr txBox="1"/>
          <p:nvPr/>
        </p:nvSpPr>
        <p:spPr>
          <a:xfrm>
            <a:off x="685800" y="1298448"/>
            <a:ext cx="10820095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soc_c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timer_c  tmr[2];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solve function void initialize(addr_handle_t base)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(tmr[i])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tmr[i].initialize(i, make_handle_from_handle(base, i * 0x100));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 composite operation: start a timer and block until it expires.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void delay_ticks(int t, bit[32] ticks)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tmr[t].start(ticks);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tmr[t].wait_done(10);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The API the environment sees.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 target function delay_ticks;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71516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</a:t>
            </a:r>
            <a:r>
              <a:rPr lang="en-US" sz="1700" b="1" dirty="0">
                <a:solidFill>
                  <a:schemeClr val="tx1"/>
                </a:solidFill>
              </a:rPr>
              <a:t>root</a:t>
            </a:r>
            <a:r>
              <a:rPr lang="en-US" sz="1700" dirty="0">
                <a:solidFill>
                  <a:schemeClr val="tx1"/>
                </a:solidFill>
              </a:rPr>
              <a:t> is chosen on the command line (</a:t>
            </a: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--root soc_c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Exports</a:t>
            </a:r>
            <a:r>
              <a:rPr lang="en-US" sz="1700" dirty="0">
                <a:solidFill>
                  <a:schemeClr val="tx1"/>
                </a:solidFill>
              </a:rPr>
              <a:t> select the root functions the environment can call. Sub-component functions remain reachable in C/C++/Py.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Generating output</a:t>
            </a:r>
            <a:endParaRPr lang="en-US" sz="3200" dirty="0"/>
          </a:p>
        </p:txBody>
      </p:sp>
      <p:sp>
        <p:nvSpPr>
          <p:cNvPr id="3" name="pssc_flow box 1"/>
          <p:cNvSpPr/>
          <p:nvPr/>
        </p:nvSpPr>
        <p:spPr>
          <a:xfrm>
            <a:off x="1469373" y="2305455"/>
            <a:ext cx="2073937" cy="1435803"/>
          </a:xfrm>
          <a:prstGeom prst="roundRect">
            <a:avLst>
              <a:gd name="adj" fmla="val 5556"/>
            </a:avLst>
          </a:prstGeom>
          <a:solidFill>
            <a:srgbClr val="EBF4FF"/>
          </a:solidFill>
          <a:ln w="15953">
            <a:solidFill>
              <a:srgbClr val="2B6CB0"/>
            </a:solidFill>
            <a:prstDash val="solid"/>
          </a:ln>
        </p:spPr>
        <p:txBody>
          <a:bodyPr wrap="square" lIns="103697" tIns="49455" rIns="63813" bIns="31907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068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 sources</a:t>
            </a:r>
            <a:endParaRPr lang="en-US" sz="1068" dirty="0"/>
          </a:p>
          <a:p>
            <a:pPr algn="l" indent="0" marL="0">
              <a:lnSpc>
                <a:spcPts val="1633"/>
              </a:lnSpc>
              <a:buNone/>
            </a:pPr>
            <a:r>
              <a:rPr lang="en-US" sz="942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plat_pkg.pss</a:t>
            </a:r>
            <a:endParaRPr lang="en-US" sz="1068" dirty="0"/>
          </a:p>
          <a:p>
            <a:pPr algn="l" indent="0" marL="0">
              <a:lnSpc>
                <a:spcPts val="1633"/>
              </a:lnSpc>
              <a:buNone/>
            </a:pPr>
            <a:r>
              <a:rPr lang="en-US" sz="942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timer_c.pss</a:t>
            </a:r>
            <a:endParaRPr lang="en-US" sz="1068" dirty="0"/>
          </a:p>
          <a:p>
            <a:pPr algn="l" indent="0" marL="0">
              <a:lnSpc>
                <a:spcPts val="1633"/>
              </a:lnSpc>
              <a:buNone/>
            </a:pPr>
            <a:r>
              <a:rPr lang="en-US" sz="942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soc_c.pss</a:t>
            </a:r>
            <a:endParaRPr lang="en-US" sz="1068" dirty="0"/>
          </a:p>
          <a:p>
            <a:pPr algn="l" indent="0" marL="0">
              <a:lnSpc>
                <a:spcPts val="1633"/>
              </a:lnSpc>
              <a:buNone/>
            </a:pPr>
            <a:r>
              <a:rPr lang="en-US" sz="942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(dependency order!)</a:t>
            </a:r>
            <a:endParaRPr lang="en-US" sz="1068" dirty="0"/>
          </a:p>
        </p:txBody>
      </p:sp>
      <p:sp>
        <p:nvSpPr>
          <p:cNvPr id="4" name="pssc_flow shape 2"/>
          <p:cNvSpPr/>
          <p:nvPr/>
        </p:nvSpPr>
        <p:spPr>
          <a:xfrm>
            <a:off x="3942144" y="2584639"/>
            <a:ext cx="2153704" cy="877435"/>
          </a:xfrm>
          <a:prstGeom prst="roundRect">
            <a:avLst>
              <a:gd name="adj" fmla="val 9091"/>
            </a:avLst>
          </a:prstGeom>
          <a:solidFill>
            <a:srgbClr val="2D3748"/>
          </a:solidFill>
          <a:ln w="15953">
            <a:solidFill>
              <a:srgbClr val="1A202C"/>
            </a:solidFill>
            <a:prstDash val="solid"/>
          </a:ln>
        </p:spPr>
      </p:sp>
      <p:sp>
        <p:nvSpPr>
          <p:cNvPr id="5" name="pssc_flow text 3"/>
          <p:cNvSpPr txBox="1"/>
          <p:nvPr/>
        </p:nvSpPr>
        <p:spPr>
          <a:xfrm>
            <a:off x="4383988" y="2718328"/>
            <a:ext cx="1270015" cy="197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32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 compile</a:t>
            </a:r>
            <a:endParaRPr lang="en-US" sz="1193" dirty="0"/>
          </a:p>
        </p:txBody>
      </p:sp>
      <p:sp>
        <p:nvSpPr>
          <p:cNvPr id="6" name="pssc_flow text 4"/>
          <p:cNvSpPr txBox="1"/>
          <p:nvPr/>
        </p:nvSpPr>
        <p:spPr>
          <a:xfrm>
            <a:off x="4191016" y="2934018"/>
            <a:ext cx="1655959" cy="3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7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--root soc_c</a:t>
            </a:r>
            <a:endParaRPr lang="en-US" sz="942" dirty="0"/>
          </a:p>
          <a:p>
            <a:pPr algn="ctr" indent="0" marL="0">
              <a:lnSpc>
                <a:spcPts val="1507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op-model-&lt;flavor&gt;</a:t>
            </a:r>
            <a:endParaRPr lang="en-US" sz="942" dirty="0"/>
          </a:p>
        </p:txBody>
      </p:sp>
      <p:sp>
        <p:nvSpPr>
          <p:cNvPr id="7" name="pssc_flow line 5"/>
          <p:cNvSpPr/>
          <p:nvPr/>
        </p:nvSpPr>
        <p:spPr>
          <a:xfrm>
            <a:off x="3543310" y="3023357"/>
            <a:ext cx="366927" cy="0"/>
          </a:xfrm>
          <a:prstGeom prst="line">
            <a:avLst/>
          </a:prstGeom>
          <a:noFill/>
          <a:ln w="23930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8" name="pssc_flow box 6"/>
          <p:cNvSpPr/>
          <p:nvPr/>
        </p:nvSpPr>
        <p:spPr>
          <a:xfrm>
            <a:off x="6733982" y="1308370"/>
            <a:ext cx="3908574" cy="765761"/>
          </a:xfrm>
          <a:prstGeom prst="roundRect">
            <a:avLst>
              <a:gd name="adj" fmla="val 10417"/>
            </a:avLst>
          </a:prstGeom>
          <a:solidFill>
            <a:srgbClr val="F3EFFF"/>
          </a:solidFill>
          <a:ln w="15953">
            <a:solidFill>
              <a:srgbClr val="6B46C1"/>
            </a:solidFill>
            <a:prstDash val="solid"/>
          </a:ln>
        </p:spPr>
        <p:txBody>
          <a:bodyPr wrap="square" lIns="103697" tIns="81362" rIns="63813" bIns="31907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9" name="pssc_flow text 7"/>
          <p:cNvSpPr txBox="1"/>
          <p:nvPr/>
        </p:nvSpPr>
        <p:spPr>
          <a:xfrm>
            <a:off x="6853632" y="1401538"/>
            <a:ext cx="1050242" cy="17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8" b="1" dirty="0">
                <a:solidFill>
                  <a:srgbClr val="443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op-model-sv</a:t>
            </a:r>
            <a:endParaRPr lang="en-US" sz="1068" dirty="0"/>
          </a:p>
        </p:txBody>
      </p:sp>
      <p:sp>
        <p:nvSpPr>
          <p:cNvPr id="10" name="pssc_flow text 8"/>
          <p:cNvSpPr txBox="1"/>
          <p:nvPr/>
        </p:nvSpPr>
        <p:spPr>
          <a:xfrm>
            <a:off x="6853632" y="1640200"/>
            <a:ext cx="1736364" cy="159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1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soc_c_pkg.sv (+ .svh)</a:t>
            </a:r>
            <a:endParaRPr lang="en-US" sz="942" dirty="0"/>
          </a:p>
        </p:txBody>
      </p:sp>
      <p:sp>
        <p:nvSpPr>
          <p:cNvPr id="11" name="pssc_flow text 9"/>
          <p:cNvSpPr txBox="1"/>
          <p:nvPr/>
        </p:nvSpPr>
        <p:spPr>
          <a:xfrm>
            <a:off x="6853632" y="1839298"/>
            <a:ext cx="2449288" cy="149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79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pssc_reg_pkg.sv   (runtime core)</a:t>
            </a:r>
            <a:endParaRPr lang="en-US" sz="879" dirty="0"/>
          </a:p>
        </p:txBody>
      </p:sp>
      <p:sp>
        <p:nvSpPr>
          <p:cNvPr id="12" name="pssc_flow line 10"/>
          <p:cNvSpPr/>
          <p:nvPr/>
        </p:nvSpPr>
        <p:spPr>
          <a:xfrm flipV="1">
            <a:off x="6095848" y="1691251"/>
            <a:ext cx="606228" cy="1332106"/>
          </a:xfrm>
          <a:prstGeom prst="line">
            <a:avLst/>
          </a:prstGeom>
          <a:noFill/>
          <a:ln w="15953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13" name="pssc_flow box 11"/>
          <p:cNvSpPr/>
          <p:nvPr/>
        </p:nvSpPr>
        <p:spPr>
          <a:xfrm>
            <a:off x="6733982" y="2201758"/>
            <a:ext cx="3908574" cy="765761"/>
          </a:xfrm>
          <a:prstGeom prst="roundRect">
            <a:avLst>
              <a:gd name="adj" fmla="val 10417"/>
            </a:avLst>
          </a:prstGeom>
          <a:solidFill>
            <a:srgbClr val="E6F6EC"/>
          </a:solidFill>
          <a:ln w="15953">
            <a:solidFill>
              <a:srgbClr val="2F855A"/>
            </a:solidFill>
            <a:prstDash val="solid"/>
          </a:ln>
        </p:spPr>
        <p:txBody>
          <a:bodyPr wrap="square" lIns="103697" tIns="81362" rIns="63813" bIns="31907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pssc_flow text 12"/>
          <p:cNvSpPr txBox="1"/>
          <p:nvPr/>
        </p:nvSpPr>
        <p:spPr>
          <a:xfrm>
            <a:off x="6853632" y="2294926"/>
            <a:ext cx="959116" cy="17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8" b="1" dirty="0">
                <a:solidFill>
                  <a:srgbClr val="1C4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op-model-c</a:t>
            </a:r>
            <a:endParaRPr lang="en-US" sz="1068" dirty="0"/>
          </a:p>
        </p:txBody>
      </p:sp>
      <p:sp>
        <p:nvSpPr>
          <p:cNvPr id="15" name="pssc_flow text 13"/>
          <p:cNvSpPr txBox="1"/>
          <p:nvPr/>
        </p:nvSpPr>
        <p:spPr>
          <a:xfrm>
            <a:off x="6853632" y="2533588"/>
            <a:ext cx="1977579" cy="159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1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soc.h  soc.c  soc_regs.h</a:t>
            </a:r>
            <a:endParaRPr lang="en-US" sz="942" dirty="0"/>
          </a:p>
        </p:txBody>
      </p:sp>
      <p:sp>
        <p:nvSpPr>
          <p:cNvPr id="16" name="pssc_flow text 14"/>
          <p:cNvSpPr txBox="1"/>
          <p:nvPr/>
        </p:nvSpPr>
        <p:spPr>
          <a:xfrm>
            <a:off x="6853632" y="2732686"/>
            <a:ext cx="3049645" cy="149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79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pssc_mem*.h  pssc_env.h   (runtime core)</a:t>
            </a:r>
            <a:endParaRPr lang="en-US" sz="879" dirty="0"/>
          </a:p>
        </p:txBody>
      </p:sp>
      <p:sp>
        <p:nvSpPr>
          <p:cNvPr id="17" name="pssc_flow line 15"/>
          <p:cNvSpPr/>
          <p:nvPr/>
        </p:nvSpPr>
        <p:spPr>
          <a:xfrm flipV="1">
            <a:off x="6095848" y="2584639"/>
            <a:ext cx="606228" cy="438717"/>
          </a:xfrm>
          <a:prstGeom prst="line">
            <a:avLst/>
          </a:prstGeom>
          <a:noFill/>
          <a:ln w="15953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8" name="pssc_flow box 16"/>
          <p:cNvSpPr/>
          <p:nvPr/>
        </p:nvSpPr>
        <p:spPr>
          <a:xfrm>
            <a:off x="6733982" y="3095147"/>
            <a:ext cx="3908574" cy="765761"/>
          </a:xfrm>
          <a:prstGeom prst="roundRect">
            <a:avLst>
              <a:gd name="adj" fmla="val 10417"/>
            </a:avLst>
          </a:prstGeom>
          <a:solidFill>
            <a:srgbClr val="E6FFFA"/>
          </a:solidFill>
          <a:ln w="15953">
            <a:solidFill>
              <a:srgbClr val="2C7A7B"/>
            </a:solidFill>
            <a:prstDash val="solid"/>
          </a:ln>
        </p:spPr>
        <p:txBody>
          <a:bodyPr wrap="square" lIns="103697" tIns="81362" rIns="63813" bIns="31907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9" name="pssc_flow text 17"/>
          <p:cNvSpPr txBox="1"/>
          <p:nvPr/>
        </p:nvSpPr>
        <p:spPr>
          <a:xfrm>
            <a:off x="6853632" y="3188314"/>
            <a:ext cx="1141367" cy="17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8" b="1" dirty="0">
                <a:solidFill>
                  <a:srgbClr val="1D4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op-model-cpp</a:t>
            </a:r>
            <a:endParaRPr lang="en-US" sz="1068" dirty="0"/>
          </a:p>
        </p:txBody>
      </p:sp>
      <p:sp>
        <p:nvSpPr>
          <p:cNvPr id="20" name="pssc_flow text 18"/>
          <p:cNvSpPr txBox="1"/>
          <p:nvPr/>
        </p:nvSpPr>
        <p:spPr>
          <a:xfrm>
            <a:off x="6853632" y="3426977"/>
            <a:ext cx="610695" cy="159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1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soc.hpp</a:t>
            </a:r>
            <a:endParaRPr lang="en-US" sz="942" dirty="0"/>
          </a:p>
        </p:txBody>
      </p:sp>
      <p:sp>
        <p:nvSpPr>
          <p:cNvPr id="21" name="pssc_flow text 19"/>
          <p:cNvSpPr txBox="1"/>
          <p:nvPr/>
        </p:nvSpPr>
        <p:spPr>
          <a:xfrm>
            <a:off x="6853632" y="3626075"/>
            <a:ext cx="3274778" cy="149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79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pssc_reg.hpp  pssc_env.hpp   (runtime core)</a:t>
            </a:r>
            <a:endParaRPr lang="en-US" sz="879" dirty="0"/>
          </a:p>
        </p:txBody>
      </p:sp>
      <p:sp>
        <p:nvSpPr>
          <p:cNvPr id="22" name="pssc_flow line 20"/>
          <p:cNvSpPr/>
          <p:nvPr/>
        </p:nvSpPr>
        <p:spPr>
          <a:xfrm>
            <a:off x="6095848" y="3023357"/>
            <a:ext cx="606228" cy="454671"/>
          </a:xfrm>
          <a:prstGeom prst="line">
            <a:avLst/>
          </a:prstGeom>
          <a:noFill/>
          <a:ln w="15953">
            <a:solidFill>
              <a:srgbClr val="2C7A7B"/>
            </a:solidFill>
            <a:prstDash val="solid"/>
            <a:tailEnd type="triangle"/>
          </a:ln>
        </p:spPr>
      </p:sp>
      <p:sp>
        <p:nvSpPr>
          <p:cNvPr id="23" name="pssc_flow box 21"/>
          <p:cNvSpPr/>
          <p:nvPr/>
        </p:nvSpPr>
        <p:spPr>
          <a:xfrm>
            <a:off x="6733982" y="3988535"/>
            <a:ext cx="3908574" cy="765761"/>
          </a:xfrm>
          <a:prstGeom prst="roundRect">
            <a:avLst>
              <a:gd name="adj" fmla="val 10417"/>
            </a:avLst>
          </a:prstGeom>
          <a:solidFill>
            <a:srgbClr val="FFF8E6"/>
          </a:solidFill>
          <a:ln w="15953">
            <a:solidFill>
              <a:srgbClr val="B7791F"/>
            </a:solidFill>
            <a:prstDash val="solid"/>
          </a:ln>
        </p:spPr>
        <p:txBody>
          <a:bodyPr wrap="square" lIns="103697" tIns="81362" rIns="63813" bIns="31907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4" name="pssc_flow text 22"/>
          <p:cNvSpPr txBox="1"/>
          <p:nvPr/>
        </p:nvSpPr>
        <p:spPr>
          <a:xfrm>
            <a:off x="6853632" y="4081703"/>
            <a:ext cx="1050242" cy="17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068" b="1" dirty="0">
                <a:solidFill>
                  <a:srgbClr val="744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op-model-py</a:t>
            </a:r>
            <a:endParaRPr lang="en-US" sz="1068" dirty="0"/>
          </a:p>
        </p:txBody>
      </p:sp>
      <p:sp>
        <p:nvSpPr>
          <p:cNvPr id="25" name="pssc_flow text 23"/>
          <p:cNvSpPr txBox="1"/>
          <p:nvPr/>
        </p:nvSpPr>
        <p:spPr>
          <a:xfrm>
            <a:off x="6853632" y="4320365"/>
            <a:ext cx="530290" cy="159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1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soc.py</a:t>
            </a:r>
            <a:endParaRPr lang="en-US" sz="942" dirty="0"/>
          </a:p>
        </p:txBody>
      </p:sp>
      <p:sp>
        <p:nvSpPr>
          <p:cNvPr id="26" name="pssc_flow text 24"/>
          <p:cNvSpPr txBox="1"/>
          <p:nvPr/>
        </p:nvSpPr>
        <p:spPr>
          <a:xfrm>
            <a:off x="6853632" y="4519463"/>
            <a:ext cx="2074065" cy="149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79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pssc_rt.py   (runtime core)</a:t>
            </a:r>
            <a:endParaRPr lang="en-US" sz="879" dirty="0"/>
          </a:p>
        </p:txBody>
      </p:sp>
      <p:sp>
        <p:nvSpPr>
          <p:cNvPr id="27" name="pssc_flow line 25"/>
          <p:cNvSpPr/>
          <p:nvPr/>
        </p:nvSpPr>
        <p:spPr>
          <a:xfrm>
            <a:off x="6095848" y="3023357"/>
            <a:ext cx="606228" cy="1348059"/>
          </a:xfrm>
          <a:prstGeom prst="line">
            <a:avLst/>
          </a:prstGeom>
          <a:noFill/>
          <a:ln w="15953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28" name="pssc command card"/>
          <p:cNvSpPr/>
          <p:nvPr/>
        </p:nvSpPr>
        <p:spPr>
          <a:xfrm>
            <a:off x="548640" y="5120640"/>
            <a:ext cx="11094415" cy="97155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pssc command"/>
          <p:cNvSpPr txBox="1"/>
          <p:nvPr/>
        </p:nvSpPr>
        <p:spPr>
          <a:xfrm>
            <a:off x="685800" y="5230368"/>
            <a:ext cx="10820095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 compile pss/plat_pkg.pss pss/timer_c.pss pss/soc_c.pss \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-t op-model-c --root soc_c -o gen/c \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--link-style direct --mem-access functions --lifecycle static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Available output flavors</a:t>
            </a:r>
            <a:endParaRPr lang="en-US" sz="32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566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options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op-model-sv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with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*_imp_if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*_ctxt_if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*_root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--package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op-model-c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&lt;prefix&gt;.h/.c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private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&lt;prefix&gt;_regs.h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--prefix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--link-style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--mem-access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--lifecycle static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--addr-bits 32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--yield import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op-model-cpp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&lt;ns&gt;.hpp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header-only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--namespace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--dispatch {virtual,template}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op-model-py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&lt;module&gt;.py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pssc_rt.py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--py-await {sync,async}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(all)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--emit-manifest FILE</a:t>
                      </a:r>
                      <a:r>
                        <a:rPr lang="en-US" sz="15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(JSON: ops, signatures, register offsets), </a:t>
                      </a:r>
                      <a:r>
                        <a:rPr lang="en-US" sz="13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--no-comments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 targets</a:t>
            </a:r>
            <a:r>
              <a:rPr lang="en-US" sz="1700" dirty="0">
                <a:solidFill>
                  <a:schemeClr val="tx1"/>
                </a:solidFill>
              </a:rPr>
              <a:t> lists them all. Each target also tells the model what it can do via </a:t>
            </a: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target_cfg_pkg</a:t>
            </a:r>
            <a:r>
              <a:rPr lang="en-US" sz="1700" dirty="0">
                <a:solidFill>
                  <a:schemeClr val="tx1"/>
                </a:solidFill>
              </a:rPr>
              <a:t> (e.g. </a:t>
            </a: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HAVE_EVENT_WAIT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 → SystemVerilog</a:t>
            </a:r>
            <a:endParaRPr lang="en-US" sz="3200" dirty="0"/>
          </a:p>
        </p:txBody>
      </p:sp>
      <p:sp>
        <p:nvSpPr>
          <p:cNvPr id="3" name="pss is_done card"/>
          <p:cNvSpPr/>
          <p:nvPr/>
        </p:nvSpPr>
        <p:spPr>
          <a:xfrm>
            <a:off x="548640" y="1280160"/>
            <a:ext cx="5364328" cy="3931920"/>
          </a:xfrm>
          <a:prstGeom prst="roundRect">
            <a:avLst>
              <a:gd name="adj" fmla="val 13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pss is_done"/>
          <p:cNvSpPr txBox="1"/>
          <p:nvPr/>
        </p:nvSpPr>
        <p:spPr>
          <a:xfrm>
            <a:off x="685800" y="1389888"/>
            <a:ext cx="509000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function bool is_done()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bit[32] sts = read32(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make_handle_from_handle(base, 0x8));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(sts &amp; 1) != 0;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function void wait_done(int poll_us)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(!is_done())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plat_delay_us(poll_us);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v is_done card"/>
          <p:cNvSpPr/>
          <p:nvPr/>
        </p:nvSpPr>
        <p:spPr>
          <a:xfrm>
            <a:off x="6278728" y="1280160"/>
            <a:ext cx="5364328" cy="3931920"/>
          </a:xfrm>
          <a:prstGeom prst="roundRect">
            <a:avLst>
              <a:gd name="adj" fmla="val 13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v is_done"/>
          <p:cNvSpPr txBox="1"/>
          <p:nvPr/>
        </p:nvSpPr>
        <p:spPr>
          <a:xfrm>
            <a:off x="6415888" y="1389888"/>
            <a:ext cx="509000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task is_done(output bit status);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bit [31:0] sts;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pss_imp.read32((base + 8), sts);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= (sts &amp; 1) != 0;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endtask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task wait_done(input int poll_us);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bit pssc_tmp_0;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forever begin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is_done(pssc_tmp_0);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(!(!(pssc_tmp_0))) break;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pss_imp.plat_delay_us(poll_us);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endtask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Return values become an </a:t>
            </a: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</a:rPr>
              <a:t>first argument</a:t>
            </a:r>
            <a:r>
              <a:rPr lang="en-US" sz="1700" dirty="0">
                <a:solidFill>
                  <a:schemeClr val="tx1"/>
                </a:solidFill>
              </a:rPr>
              <a:t>, since operations are tasks. Address arithmetic is folded: </a:t>
            </a: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+ 8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 → C and Python</a:t>
            </a:r>
            <a:endParaRPr lang="en-US" sz="3200" dirty="0"/>
          </a:p>
        </p:txBody>
      </p:sp>
      <p:sp>
        <p:nvSpPr>
          <p:cNvPr id="3" name="c is_done card"/>
          <p:cNvSpPr/>
          <p:nvPr/>
        </p:nvSpPr>
        <p:spPr>
          <a:xfrm>
            <a:off x="548640" y="1280160"/>
            <a:ext cx="5364328" cy="3931920"/>
          </a:xfrm>
          <a:prstGeom prst="roundRect">
            <a:avLst>
              <a:gd name="adj" fmla="val 13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c is_done"/>
          <p:cNvSpPr txBox="1"/>
          <p:nvPr/>
        </p:nvSpPr>
        <p:spPr>
          <a:xfrm>
            <a:off x="685800" y="1389888"/>
            <a:ext cx="509000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timer_is_done(timer_c *_self)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sts = pssc_r32(pssc_bus(_self),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(_self-&gt;base + 8));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(sts &amp; 1) != 0;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timer_wait_done(timer_c *_self,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int poll_us)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(!(timer_is_done(_self)))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plat_delay_us(poll_us);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py is_done card"/>
          <p:cNvSpPr/>
          <p:nvPr/>
        </p:nvSpPr>
        <p:spPr>
          <a:xfrm>
            <a:off x="6278728" y="1280160"/>
            <a:ext cx="5364328" cy="3931920"/>
          </a:xfrm>
          <a:prstGeom prst="roundRect">
            <a:avLst>
              <a:gd name="adj" fmla="val 139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py is_done"/>
          <p:cNvSpPr txBox="1"/>
          <p:nvPr/>
        </p:nvSpPr>
        <p:spPr>
          <a:xfrm>
            <a:off x="6415888" y="1389888"/>
            <a:ext cx="509000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Timer(object):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imports: SocImportApi, i, b):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self._imports = imports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self.id = i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self.base = b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is_done(self):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sts = self._imports.read32((self.base + 8))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(sts &amp; 1) != 0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wait_done(self, poll_us):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not (self.is_done()):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self._imports.plat_delay_us(poll_us)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Comments in the PSS source are carried into every output (</a:t>
            </a:r>
            <a:r>
              <a:rPr lang="en-US" sz="14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--no-comments</a:t>
            </a:r>
            <a:r>
              <a:rPr lang="en-US" sz="1700" dirty="0">
                <a:solidFill>
                  <a:schemeClr val="tx1"/>
                </a:solidFill>
              </a:rPr>
              <a:t> to drop them).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 at run time</a:t>
            </a:r>
            <a:endParaRPr lang="en-US" sz="3200" dirty="0"/>
          </a:p>
        </p:txBody>
      </p:sp>
      <p:sp>
        <p:nvSpPr>
          <p:cNvPr id="3" name="lab1_sequence box 1"/>
          <p:cNvSpPr/>
          <p:nvPr/>
        </p:nvSpPr>
        <p:spPr>
          <a:xfrm>
            <a:off x="1067872" y="1413646"/>
            <a:ext cx="1334861" cy="391559"/>
          </a:xfrm>
          <a:prstGeom prst="roundRect">
            <a:avLst>
              <a:gd name="adj" fmla="val 22727"/>
            </a:avLst>
          </a:prstGeom>
          <a:solidFill>
            <a:srgbClr val="F1F3F5"/>
          </a:solidFill>
          <a:ln w="17798">
            <a:solidFill>
              <a:srgbClr val="4A556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71"/>
              </a:lnSpc>
              <a:buNone/>
            </a:pPr>
            <a:r>
              <a:rPr lang="en-US" sz="1121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code</a:t>
            </a:r>
            <a:endParaRPr lang="en-US" sz="1121" dirty="0"/>
          </a:p>
        </p:txBody>
      </p:sp>
      <p:sp>
        <p:nvSpPr>
          <p:cNvPr id="4" name="lab1_sequence line 2"/>
          <p:cNvSpPr/>
          <p:nvPr/>
        </p:nvSpPr>
        <p:spPr>
          <a:xfrm>
            <a:off x="1735303" y="1805205"/>
            <a:ext cx="0" cy="4324949"/>
          </a:xfrm>
          <a:prstGeom prst="line">
            <a:avLst/>
          </a:prstGeom>
          <a:noFill/>
          <a:ln w="17798">
            <a:solidFill>
              <a:srgbClr val="CBD5E0"/>
            </a:solidFill>
            <a:prstDash val="dash"/>
          </a:ln>
        </p:spPr>
      </p:sp>
      <p:sp>
        <p:nvSpPr>
          <p:cNvPr id="5" name="lab1_sequence box 3"/>
          <p:cNvSpPr/>
          <p:nvPr/>
        </p:nvSpPr>
        <p:spPr>
          <a:xfrm>
            <a:off x="3470622" y="1413646"/>
            <a:ext cx="1334861" cy="391559"/>
          </a:xfrm>
          <a:prstGeom prst="roundRect">
            <a:avLst>
              <a:gd name="adj" fmla="val 22727"/>
            </a:avLst>
          </a:prstGeom>
          <a:solidFill>
            <a:srgbClr val="EBF4FF"/>
          </a:solidFill>
          <a:ln w="17798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71"/>
              </a:lnSpc>
              <a:buNone/>
            </a:pPr>
            <a:r>
              <a:rPr lang="en-US" sz="1121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soc_c</a:t>
            </a:r>
            <a:endParaRPr lang="en-US" sz="1121" dirty="0"/>
          </a:p>
        </p:txBody>
      </p:sp>
      <p:sp>
        <p:nvSpPr>
          <p:cNvPr id="6" name="lab1_sequence line 4"/>
          <p:cNvSpPr/>
          <p:nvPr/>
        </p:nvSpPr>
        <p:spPr>
          <a:xfrm>
            <a:off x="4138052" y="1805205"/>
            <a:ext cx="0" cy="4324949"/>
          </a:xfrm>
          <a:prstGeom prst="line">
            <a:avLst/>
          </a:prstGeom>
          <a:noFill/>
          <a:ln w="17798">
            <a:solidFill>
              <a:srgbClr val="CBD5E0"/>
            </a:solidFill>
            <a:prstDash val="dash"/>
          </a:ln>
        </p:spPr>
      </p:sp>
      <p:sp>
        <p:nvSpPr>
          <p:cNvPr id="7" name="lab1_sequence box 5"/>
          <p:cNvSpPr/>
          <p:nvPr/>
        </p:nvSpPr>
        <p:spPr>
          <a:xfrm>
            <a:off x="5606399" y="1413646"/>
            <a:ext cx="1334861" cy="391559"/>
          </a:xfrm>
          <a:prstGeom prst="roundRect">
            <a:avLst>
              <a:gd name="adj" fmla="val 22727"/>
            </a:avLst>
          </a:prstGeom>
          <a:solidFill>
            <a:srgbClr val="EBF4FF"/>
          </a:solidFill>
          <a:ln w="17798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71"/>
              </a:lnSpc>
              <a:buNone/>
            </a:pPr>
            <a:r>
              <a:rPr lang="en-US" sz="1121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tmr[1]</a:t>
            </a:r>
            <a:endParaRPr lang="en-US" sz="1121" dirty="0"/>
          </a:p>
        </p:txBody>
      </p:sp>
      <p:sp>
        <p:nvSpPr>
          <p:cNvPr id="8" name="lab1_sequence line 6"/>
          <p:cNvSpPr/>
          <p:nvPr/>
        </p:nvSpPr>
        <p:spPr>
          <a:xfrm>
            <a:off x="6273829" y="1805205"/>
            <a:ext cx="0" cy="4324949"/>
          </a:xfrm>
          <a:prstGeom prst="line">
            <a:avLst/>
          </a:prstGeom>
          <a:noFill/>
          <a:ln w="17798">
            <a:solidFill>
              <a:srgbClr val="CBD5E0"/>
            </a:solidFill>
            <a:prstDash val="dash"/>
          </a:ln>
        </p:spPr>
      </p:sp>
      <p:sp>
        <p:nvSpPr>
          <p:cNvPr id="9" name="lab1_sequence box 7"/>
          <p:cNvSpPr/>
          <p:nvPr/>
        </p:nvSpPr>
        <p:spPr>
          <a:xfrm>
            <a:off x="8320615" y="1413646"/>
            <a:ext cx="1957796" cy="391559"/>
          </a:xfrm>
          <a:prstGeom prst="roundRect">
            <a:avLst>
              <a:gd name="adj" fmla="val 22727"/>
            </a:avLst>
          </a:prstGeom>
          <a:solidFill>
            <a:srgbClr val="E6F6EC"/>
          </a:solidFill>
          <a:ln w="17798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71"/>
              </a:lnSpc>
              <a:buNone/>
            </a:pPr>
            <a:r>
              <a:rPr lang="en-US" sz="1121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(imports)</a:t>
            </a:r>
            <a:endParaRPr lang="en-US" sz="1121" dirty="0"/>
          </a:p>
        </p:txBody>
      </p:sp>
      <p:sp>
        <p:nvSpPr>
          <p:cNvPr id="10" name="lab1_sequence line 8"/>
          <p:cNvSpPr/>
          <p:nvPr/>
        </p:nvSpPr>
        <p:spPr>
          <a:xfrm>
            <a:off x="9299513" y="1805205"/>
            <a:ext cx="0" cy="4324949"/>
          </a:xfrm>
          <a:prstGeom prst="line">
            <a:avLst/>
          </a:prstGeom>
          <a:noFill/>
          <a:ln w="17798">
            <a:solidFill>
              <a:srgbClr val="CBD5E0"/>
            </a:solidFill>
            <a:prstDash val="dash"/>
          </a:ln>
        </p:spPr>
      </p:sp>
      <p:sp>
        <p:nvSpPr>
          <p:cNvPr id="11" name="lab1_sequence line 9"/>
          <p:cNvSpPr/>
          <p:nvPr/>
        </p:nvSpPr>
        <p:spPr>
          <a:xfrm>
            <a:off x="1735303" y="2125572"/>
            <a:ext cx="2402749" cy="0"/>
          </a:xfrm>
          <a:prstGeom prst="line">
            <a:avLst/>
          </a:prstGeom>
          <a:noFill/>
          <a:ln w="17798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2" name="lab1_sequence text 10"/>
          <p:cNvSpPr txBox="1"/>
          <p:nvPr/>
        </p:nvSpPr>
        <p:spPr>
          <a:xfrm>
            <a:off x="2156478" y="1943675"/>
            <a:ext cx="1560399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delay_ticks(1, 35)</a:t>
            </a:r>
            <a:endParaRPr lang="en-US" sz="981" dirty="0"/>
          </a:p>
        </p:txBody>
      </p:sp>
      <p:sp>
        <p:nvSpPr>
          <p:cNvPr id="13" name="lab1_sequence line 11"/>
          <p:cNvSpPr/>
          <p:nvPr/>
        </p:nvSpPr>
        <p:spPr>
          <a:xfrm>
            <a:off x="4138052" y="2481535"/>
            <a:ext cx="2135777" cy="0"/>
          </a:xfrm>
          <a:prstGeom prst="line">
            <a:avLst/>
          </a:prstGeom>
          <a:noFill/>
          <a:ln w="17798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4" name="lab1_sequence text 12"/>
          <p:cNvSpPr txBox="1"/>
          <p:nvPr/>
        </p:nvSpPr>
        <p:spPr>
          <a:xfrm>
            <a:off x="4802492" y="2299638"/>
            <a:ext cx="806897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start(35)</a:t>
            </a:r>
            <a:endParaRPr lang="en-US" sz="981" dirty="0"/>
          </a:p>
        </p:txBody>
      </p:sp>
      <p:sp>
        <p:nvSpPr>
          <p:cNvPr id="15" name="lab1_sequence line 13"/>
          <p:cNvSpPr/>
          <p:nvPr/>
        </p:nvSpPr>
        <p:spPr>
          <a:xfrm>
            <a:off x="6273829" y="2837497"/>
            <a:ext cx="3025684" cy="0"/>
          </a:xfrm>
          <a:prstGeom prst="line">
            <a:avLst/>
          </a:prstGeom>
          <a:noFill/>
          <a:ln w="17798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6" name="lab1_sequence text 14"/>
          <p:cNvSpPr txBox="1"/>
          <p:nvPr/>
        </p:nvSpPr>
        <p:spPr>
          <a:xfrm>
            <a:off x="7006472" y="2655600"/>
            <a:ext cx="1560399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write32(+0x108, 1)</a:t>
            </a:r>
            <a:endParaRPr lang="en-US" sz="981" dirty="0"/>
          </a:p>
        </p:txBody>
      </p:sp>
      <p:sp>
        <p:nvSpPr>
          <p:cNvPr id="17" name="lab1_sequence line 15"/>
          <p:cNvSpPr/>
          <p:nvPr/>
        </p:nvSpPr>
        <p:spPr>
          <a:xfrm>
            <a:off x="6273829" y="3157864"/>
            <a:ext cx="3025684" cy="0"/>
          </a:xfrm>
          <a:prstGeom prst="line">
            <a:avLst/>
          </a:prstGeom>
          <a:noFill/>
          <a:ln w="17798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18" name="lab1_sequence text 16"/>
          <p:cNvSpPr txBox="1"/>
          <p:nvPr/>
        </p:nvSpPr>
        <p:spPr>
          <a:xfrm>
            <a:off x="6964611" y="2975967"/>
            <a:ext cx="1644121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write32(+0x104, 35)</a:t>
            </a:r>
            <a:endParaRPr lang="en-US" sz="981" dirty="0"/>
          </a:p>
        </p:txBody>
      </p:sp>
      <p:sp>
        <p:nvSpPr>
          <p:cNvPr id="19" name="lab1_sequence line 17"/>
          <p:cNvSpPr/>
          <p:nvPr/>
        </p:nvSpPr>
        <p:spPr>
          <a:xfrm>
            <a:off x="6273829" y="3478231"/>
            <a:ext cx="3025684" cy="0"/>
          </a:xfrm>
          <a:prstGeom prst="line">
            <a:avLst/>
          </a:prstGeom>
          <a:noFill/>
          <a:ln w="17798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20" name="lab1_sequence text 18"/>
          <p:cNvSpPr txBox="1"/>
          <p:nvPr/>
        </p:nvSpPr>
        <p:spPr>
          <a:xfrm>
            <a:off x="7006472" y="3296334"/>
            <a:ext cx="1560399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write32(+0x100, 1)</a:t>
            </a:r>
            <a:endParaRPr lang="en-US" sz="981" dirty="0"/>
          </a:p>
        </p:txBody>
      </p:sp>
      <p:sp>
        <p:nvSpPr>
          <p:cNvPr id="21" name="lab1_sequence line 19"/>
          <p:cNvSpPr/>
          <p:nvPr/>
        </p:nvSpPr>
        <p:spPr>
          <a:xfrm>
            <a:off x="4138052" y="3949881"/>
            <a:ext cx="2135777" cy="0"/>
          </a:xfrm>
          <a:prstGeom prst="line">
            <a:avLst/>
          </a:prstGeom>
          <a:noFill/>
          <a:ln w="17798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2" name="lab1_sequence text 20"/>
          <p:cNvSpPr txBox="1"/>
          <p:nvPr/>
        </p:nvSpPr>
        <p:spPr>
          <a:xfrm>
            <a:off x="4635047" y="3767984"/>
            <a:ext cx="1141786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wait_done(10)</a:t>
            </a:r>
            <a:endParaRPr lang="en-US" sz="981" dirty="0"/>
          </a:p>
        </p:txBody>
      </p:sp>
      <p:sp>
        <p:nvSpPr>
          <p:cNvPr id="23" name="lab1_sequence shape 21"/>
          <p:cNvSpPr/>
          <p:nvPr/>
        </p:nvSpPr>
        <p:spPr>
          <a:xfrm>
            <a:off x="5739885" y="4127863"/>
            <a:ext cx="4983480" cy="1423851"/>
          </a:xfrm>
          <a:prstGeom prst="roundRect">
            <a:avLst>
              <a:gd name="adj" fmla="val 2500"/>
            </a:avLst>
          </a:prstGeom>
          <a:ln w="17798">
            <a:solidFill>
              <a:srgbClr val="718096"/>
            </a:solidFill>
            <a:prstDash val="dash"/>
          </a:ln>
        </p:spPr>
      </p:sp>
      <p:sp>
        <p:nvSpPr>
          <p:cNvPr id="24" name="lab1_sequence text 22"/>
          <p:cNvSpPr txBox="1"/>
          <p:nvPr/>
        </p:nvSpPr>
        <p:spPr>
          <a:xfrm>
            <a:off x="5846674" y="4186241"/>
            <a:ext cx="1895289" cy="16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981" b="1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 while !is_done()</a:t>
            </a:r>
            <a:endParaRPr lang="en-US" sz="981" dirty="0"/>
          </a:p>
        </p:txBody>
      </p:sp>
      <p:sp>
        <p:nvSpPr>
          <p:cNvPr id="25" name="lab1_sequence line 23"/>
          <p:cNvSpPr/>
          <p:nvPr/>
        </p:nvSpPr>
        <p:spPr>
          <a:xfrm>
            <a:off x="6273829" y="4617312"/>
            <a:ext cx="3025684" cy="0"/>
          </a:xfrm>
          <a:prstGeom prst="line">
            <a:avLst/>
          </a:prstGeom>
          <a:noFill/>
          <a:ln w="17798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26" name="lab1_sequence text 24"/>
          <p:cNvSpPr txBox="1"/>
          <p:nvPr/>
        </p:nvSpPr>
        <p:spPr>
          <a:xfrm>
            <a:off x="7173917" y="4435415"/>
            <a:ext cx="1225509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read32(+0x108)</a:t>
            </a:r>
            <a:endParaRPr lang="en-US" sz="981" dirty="0"/>
          </a:p>
        </p:txBody>
      </p:sp>
      <p:sp>
        <p:nvSpPr>
          <p:cNvPr id="27" name="lab1_sequence line 25"/>
          <p:cNvSpPr/>
          <p:nvPr/>
        </p:nvSpPr>
        <p:spPr>
          <a:xfrm flipH="1">
            <a:off x="6273829" y="4928779"/>
            <a:ext cx="3025684" cy="0"/>
          </a:xfrm>
          <a:prstGeom prst="line">
            <a:avLst/>
          </a:prstGeom>
          <a:noFill/>
          <a:ln w="17798">
            <a:solidFill>
              <a:srgbClr val="718096"/>
            </a:solidFill>
            <a:prstDash val="dash"/>
            <a:tailEnd type="triangle"/>
          </a:ln>
        </p:spPr>
      </p:sp>
      <p:sp>
        <p:nvSpPr>
          <p:cNvPr id="28" name="lab1_sequence text 26"/>
          <p:cNvSpPr txBox="1"/>
          <p:nvPr/>
        </p:nvSpPr>
        <p:spPr>
          <a:xfrm>
            <a:off x="7425084" y="4746882"/>
            <a:ext cx="723174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= 0</a:t>
            </a:r>
            <a:endParaRPr lang="en-US" sz="981" dirty="0"/>
          </a:p>
        </p:txBody>
      </p:sp>
      <p:sp>
        <p:nvSpPr>
          <p:cNvPr id="29" name="lab1_sequence line 27"/>
          <p:cNvSpPr/>
          <p:nvPr/>
        </p:nvSpPr>
        <p:spPr>
          <a:xfrm>
            <a:off x="6273829" y="5329238"/>
            <a:ext cx="3025684" cy="0"/>
          </a:xfrm>
          <a:prstGeom prst="line">
            <a:avLst/>
          </a:prstGeom>
          <a:noFill/>
          <a:ln w="17798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30" name="lab1_sequence text 28"/>
          <p:cNvSpPr txBox="1"/>
          <p:nvPr/>
        </p:nvSpPr>
        <p:spPr>
          <a:xfrm>
            <a:off x="7048333" y="5147340"/>
            <a:ext cx="1476676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plat_delay_us(10)</a:t>
            </a:r>
            <a:endParaRPr lang="en-US" sz="981" dirty="0"/>
          </a:p>
        </p:txBody>
      </p:sp>
      <p:sp>
        <p:nvSpPr>
          <p:cNvPr id="31" name="lab1_sequence line 29"/>
          <p:cNvSpPr/>
          <p:nvPr/>
        </p:nvSpPr>
        <p:spPr>
          <a:xfrm flipH="1">
            <a:off x="6273829" y="5818686"/>
            <a:ext cx="3025684" cy="0"/>
          </a:xfrm>
          <a:prstGeom prst="line">
            <a:avLst/>
          </a:prstGeom>
          <a:noFill/>
          <a:ln w="17798">
            <a:solidFill>
              <a:srgbClr val="718096"/>
            </a:solidFill>
            <a:prstDash val="dash"/>
            <a:tailEnd type="triangle"/>
          </a:ln>
        </p:spPr>
      </p:sp>
      <p:sp>
        <p:nvSpPr>
          <p:cNvPr id="32" name="lab1_sequence text 30"/>
          <p:cNvSpPr txBox="1"/>
          <p:nvPr/>
        </p:nvSpPr>
        <p:spPr>
          <a:xfrm>
            <a:off x="7006472" y="5636789"/>
            <a:ext cx="1560399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= 1  → return</a:t>
            </a:r>
            <a:endParaRPr lang="en-US" sz="981" dirty="0"/>
          </a:p>
        </p:txBody>
      </p:sp>
      <p:sp>
        <p:nvSpPr>
          <p:cNvPr id="33" name="lab1_sequence line 31"/>
          <p:cNvSpPr/>
          <p:nvPr/>
        </p:nvSpPr>
        <p:spPr>
          <a:xfrm flipH="1">
            <a:off x="1735303" y="6041163"/>
            <a:ext cx="2402749" cy="0"/>
          </a:xfrm>
          <a:prstGeom prst="line">
            <a:avLst/>
          </a:prstGeom>
          <a:noFill/>
          <a:ln w="17798">
            <a:solidFill>
              <a:srgbClr val="718096"/>
            </a:solidFill>
            <a:prstDash val="dash"/>
            <a:tailEnd type="triangle"/>
          </a:ln>
        </p:spPr>
      </p:sp>
      <p:sp>
        <p:nvSpPr>
          <p:cNvPr id="34" name="lab1_sequence text 32"/>
          <p:cNvSpPr txBox="1"/>
          <p:nvPr/>
        </p:nvSpPr>
        <p:spPr>
          <a:xfrm>
            <a:off x="2658813" y="5859266"/>
            <a:ext cx="555729" cy="16730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7"/>
              </a:lnSpc>
              <a:buNone/>
            </a:pPr>
            <a:r>
              <a:rPr lang="en-US" sz="981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98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Environment integration</a:t>
            </a:r>
            <a:endParaRPr lang="en-US" sz="3200" dirty="0"/>
          </a:p>
        </p:txBody>
      </p:sp>
      <p:sp>
        <p:nvSpPr>
          <p:cNvPr id="3" name="env card SystemVerilog"/>
          <p:cNvSpPr/>
          <p:nvPr/>
        </p:nvSpPr>
        <p:spPr>
          <a:xfrm>
            <a:off x="548640" y="128016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3EFFF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46C1"/>
                </a:solidFill>
              </a:rPr>
              <a:t>SystemVerilog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env/sv/tb.sv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 soc_c_imp_if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soc_c_root#(T)::create(imp, base)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read32</a:t>
            </a:r>
            <a:r>
              <a:rPr lang="en-US" sz="1600" dirty="0">
                <a:solidFill>
                  <a:schemeClr val="tx1"/>
                </a:solidFill>
              </a:rPr>
              <a:t> may consume time</a:t>
            </a:r>
            <a:endParaRPr lang="en-US" sz="1600" dirty="0"/>
          </a:p>
        </p:txBody>
      </p:sp>
      <p:sp>
        <p:nvSpPr>
          <p:cNvPr id="7" name="env card C"/>
          <p:cNvSpPr/>
          <p:nvPr/>
        </p:nvSpPr>
        <p:spPr>
          <a:xfrm>
            <a:off x="4338218" y="128016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E6F6E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463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855A"/>
                </a:solidFill>
              </a:rPr>
              <a:t>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19202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env/c/main.c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42316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define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pssc_mem_read32/write32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define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plat_delay_us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soc_c soc;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soc_init(&amp;soc, base);</a:t>
            </a:r>
            <a:endParaRPr lang="en-US" sz="1600" dirty="0"/>
          </a:p>
        </p:txBody>
      </p:sp>
      <p:sp>
        <p:nvSpPr>
          <p:cNvPr id="11" name="env card Python"/>
          <p:cNvSpPr/>
          <p:nvPr/>
        </p:nvSpPr>
        <p:spPr>
          <a:xfrm>
            <a:off x="8127797" y="128016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FF8E6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463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</a:rPr>
              <a:t>Python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56397" y="19202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env/py/run.py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242316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object with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read32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plat_delay_us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r>
              <a:rPr lang="en-US" sz="1600" dirty="0">
                <a:solidFill>
                  <a:schemeClr val="tx1"/>
                </a:solidFill>
              </a:rPr>
              <a:t>: no inheritance needed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Soc(env, base)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 three</a:t>
            </a:r>
            <a:r>
              <a:rPr lang="en-US" sz="1800" dirty="0">
                <a:solidFill>
                  <a:schemeClr val="tx1"/>
                </a:solidFill>
              </a:rPr>
              <a:t> use a ~40-line </a:t>
            </a:r>
            <a:r>
              <a:rPr lang="en-US" sz="1800" i="1" dirty="0">
                <a:solidFill>
                  <a:schemeClr val="tx1"/>
                </a:solidFill>
              </a:rPr>
              <a:t>fake timer</a:t>
            </a:r>
            <a:r>
              <a:rPr lang="en-US" sz="1800" dirty="0">
                <a:solidFill>
                  <a:schemeClr val="tx1"/>
                </a:solidFill>
              </a:rPr>
              <a:t> behind the import API, so the lab runs on a laptop.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1: run it</a:t>
            </a:r>
            <a:endParaRPr lang="en-US" sz="3200" dirty="0"/>
          </a:p>
        </p:txBody>
      </p:sp>
      <p:sp>
        <p:nvSpPr>
          <p:cNvPr id="3" name="run cmds card"/>
          <p:cNvSpPr/>
          <p:nvPr/>
        </p:nvSpPr>
        <p:spPr>
          <a:xfrm>
            <a:off x="548640" y="1280160"/>
            <a:ext cx="11094415" cy="97155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run cmds"/>
          <p:cNvSpPr txBox="1"/>
          <p:nvPr/>
        </p:nvSpPr>
        <p:spPr>
          <a:xfrm>
            <a:off x="685800" y="1389888"/>
            <a:ext cx="10820095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labs/lab1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                                      # gen + run C, SV (Verilator), Python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 PSSC_SRC=~/projects/psstools/pssc    # against a pssc source tree</a:t>
            </a:r>
            <a:endParaRPr lang="en-US" sz="1500" dirty="0"/>
          </a:p>
        </p:txBody>
      </p:sp>
      <p:sp>
        <p:nvSpPr>
          <p:cNvPr id="5" name="run output card"/>
          <p:cNvSpPr/>
          <p:nvPr/>
        </p:nvSpPr>
        <p:spPr>
          <a:xfrm>
            <a:off x="548640" y="2526030"/>
            <a:ext cx="6858000" cy="1436370"/>
          </a:xfrm>
          <a:prstGeom prst="roundRect">
            <a:avLst>
              <a:gd name="adj" fmla="val 382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run output"/>
          <p:cNvSpPr txBox="1"/>
          <p:nvPr/>
        </p:nvSpPr>
        <p:spPr>
          <a:xfrm>
            <a:off x="685800" y="2635758"/>
            <a:ext cx="6583680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delay_ticks(1, 35)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[bus] write32 0x40000108 = 0x1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[bus] write32 0x40000104 = 0x23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[bus] write32 0x40000100 = 0x1</a:t>
            </a:r>
            <a:endParaRPr lang="en-US" sz="1500" dirty="0"/>
          </a:p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after 4 polls</a:t>
            </a:r>
            <a:endParaRPr lang="en-US" sz="1500" dirty="0"/>
          </a:p>
        </p:txBody>
      </p:sp>
      <p:sp>
        <p:nvSpPr>
          <p:cNvPr id="7" name="same output"/>
          <p:cNvSpPr txBox="1"/>
          <p:nvPr/>
        </p:nvSpPr>
        <p:spPr>
          <a:xfrm>
            <a:off x="7863840" y="2526030"/>
            <a:ext cx="3749040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×3</a:t>
            </a:r>
            <a:endParaRPr lang="en-US" sz="5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identical output from C, SV and Python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91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model, same bus traffic.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1 exercises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chemeClr val="tx1"/>
                </a:solidFill>
              </a:rPr>
              <a:t>Observe.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gen</a:t>
            </a:r>
            <a:r>
              <a:rPr lang="en-US" sz="1900" dirty="0">
                <a:solidFill>
                  <a:schemeClr val="tx1"/>
                </a:solidFill>
              </a:rPr>
              <a:t>, then find each PSS element in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gen/sv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gen/c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gen/cpp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gen/py</a:t>
            </a:r>
            <a:r>
              <a:rPr lang="en-US" sz="1900" dirty="0">
                <a:solidFill>
                  <a:schemeClr val="tx1"/>
                </a:solidFill>
              </a:rPr>
              <a:t>: state,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delay_ticks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plat_delay_us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tmr[2]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chemeClr val="tx1"/>
                </a:solidFill>
              </a:rPr>
              <a:t>Add an operation.</a:t>
            </a:r>
            <a:r>
              <a:rPr lang="en-US" sz="1900" dirty="0">
                <a:solidFill>
                  <a:schemeClr val="tx1"/>
                </a:solidFill>
              </a:rPr>
              <a:t> Give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</a:t>
            </a:r>
            <a:r>
              <a:rPr lang="en-US" sz="1900" dirty="0">
                <a:solidFill>
                  <a:schemeClr val="tx1"/>
                </a:solidFill>
              </a:rPr>
              <a:t> a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stop()</a:t>
            </a:r>
            <a:r>
              <a:rPr lang="en-US" sz="1900" dirty="0">
                <a:solidFill>
                  <a:schemeClr val="tx1"/>
                </a:solidFill>
              </a:rPr>
              <a:t> (EN=0, clear DONE); add and export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soc_c::cancel(int t)</a:t>
            </a:r>
            <a:r>
              <a:rPr lang="en-US" sz="1900" dirty="0">
                <a:solidFill>
                  <a:schemeClr val="tx1"/>
                </a:solidFill>
              </a:rPr>
              <a:t>. Regenerate: where did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</a:t>
            </a:r>
            <a:r>
              <a:rPr lang="en-US" sz="1900" dirty="0">
                <a:solidFill>
                  <a:schemeClr val="tx1"/>
                </a:solidFill>
              </a:rPr>
              <a:t> appear in each flavor?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chemeClr val="tx1"/>
                </a:solidFill>
              </a:rPr>
              <a:t>Change a signature.</a:t>
            </a:r>
            <a:r>
              <a:rPr lang="en-US" sz="1900" dirty="0">
                <a:solidFill>
                  <a:schemeClr val="tx1"/>
                </a:solidFill>
              </a:rPr>
              <a:t> Give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wait_done</a:t>
            </a:r>
            <a:r>
              <a:rPr lang="en-US" sz="1900" dirty="0">
                <a:solidFill>
                  <a:schemeClr val="tx1"/>
                </a:solidFill>
              </a:rPr>
              <a:t> a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max_polls</a:t>
            </a:r>
            <a:r>
              <a:rPr lang="en-US" sz="1900" dirty="0">
                <a:solidFill>
                  <a:schemeClr val="tx1"/>
                </a:solidFill>
              </a:rPr>
              <a:t> budget and make it return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900" dirty="0">
                <a:solidFill>
                  <a:schemeClr val="tx1"/>
                </a:solidFill>
              </a:rPr>
              <a:t>; make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delay_ticks</a:t>
            </a:r>
            <a:r>
              <a:rPr lang="en-US" sz="1900" dirty="0">
                <a:solidFill>
                  <a:schemeClr val="tx1"/>
                </a:solidFill>
              </a:rPr>
              <a:t> return it. Update the three harnesses to report a timeout and call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cancel()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Solution: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labs/lab1/solution</a:t>
            </a:r>
            <a:r>
              <a:rPr lang="en-US" sz="1800" dirty="0">
                <a:solidFill>
                  <a:schemeClr val="accent4"/>
                </a:solidFill>
              </a:rPr>
              <a:t>, run with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 SOL=1</a:t>
            </a:r>
            <a:r>
              <a:rPr lang="en-US" sz="1800" dirty="0">
                <a:solidFill>
                  <a:schemeClr val="accent4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 2: Registers and memory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B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labs/lab2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a register model?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Lab 1 wrote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write32(make_handle_from_handle(base, 0x8), 1)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problem 0"/>
          <p:cNvSpPr/>
          <p:nvPr/>
        </p:nvSpPr>
        <p:spPr>
          <a:xfrm>
            <a:off x="548640" y="19659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53030"/>
                </a:solidFill>
              </a:rPr>
              <a:t>Offsets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restated by hand; wrong ones fail silently</a:t>
            </a:r>
            <a:endParaRPr lang="en-US" sz="1500" dirty="0"/>
          </a:p>
        </p:txBody>
      </p:sp>
      <p:sp>
        <p:nvSpPr>
          <p:cNvPr id="7" name="problem 1"/>
          <p:cNvSpPr/>
          <p:nvPr/>
        </p:nvSpPr>
        <p:spPr>
          <a:xfrm>
            <a:off x="3390824" y="19659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9424" y="21488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53030"/>
                </a:solidFill>
              </a:rPr>
              <a:t>Fields &amp; masks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2651760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positions and masks restated by hand</a:t>
            </a:r>
            <a:endParaRPr lang="en-US" sz="1500" dirty="0"/>
          </a:p>
        </p:txBody>
      </p:sp>
      <p:sp>
        <p:nvSpPr>
          <p:cNvPr id="10" name="problem 2"/>
          <p:cNvSpPr/>
          <p:nvPr/>
        </p:nvSpPr>
        <p:spPr>
          <a:xfrm>
            <a:off x="6233008" y="19659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21488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53030"/>
                </a:solidFill>
              </a:rPr>
              <a:t>Access rules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651760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read-only, W1C: invisible in the code</a:t>
            </a:r>
            <a:endParaRPr lang="en-US" sz="1500" dirty="0"/>
          </a:p>
        </p:txBody>
      </p:sp>
      <p:sp>
        <p:nvSpPr>
          <p:cNvPr id="13" name="problem 3"/>
          <p:cNvSpPr/>
          <p:nvPr/>
        </p:nvSpPr>
        <p:spPr>
          <a:xfrm>
            <a:off x="9075191" y="19659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21488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53030"/>
                </a:solidFill>
              </a:rPr>
              <a:t>Copies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651760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RTL, UVM RAL, firmware headers each keep their own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PSS 3.x has a </a:t>
            </a:r>
            <a:r>
              <a:rPr lang="en-US" sz="2000" b="1" dirty="0">
                <a:solidFill>
                  <a:schemeClr val="tx1"/>
                </a:solidFill>
              </a:rPr>
              <a:t>register model</a:t>
            </a:r>
            <a:r>
              <a:rPr lang="en-US" sz="2000" dirty="0">
                <a:solidFill>
                  <a:schemeClr val="tx1"/>
                </a:solidFill>
              </a:rPr>
              <a:t> in </a:t>
            </a:r>
            <a:r>
              <a:rPr lang="en-US" sz="17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addr_reg_pkg</a:t>
            </a:r>
            <a:r>
              <a:rPr lang="en-US" sz="2000" dirty="0">
                <a:solidFill>
                  <a:schemeClr val="tx1"/>
                </a:solidFill>
              </a:rPr>
              <a:t>. Generate it from the same source as everything else.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Creating register models</a:t>
            </a:r>
            <a:endParaRPr lang="en-US" sz="3200" dirty="0"/>
          </a:p>
        </p:txBody>
      </p:sp>
      <p:sp>
        <p:nvSpPr>
          <p:cNvPr id="3" name="reg_flow box 1"/>
          <p:cNvSpPr/>
          <p:nvPr/>
        </p:nvSpPr>
        <p:spPr>
          <a:xfrm>
            <a:off x="1130850" y="2558374"/>
            <a:ext cx="1712068" cy="1198448"/>
          </a:xfrm>
          <a:prstGeom prst="roundRect">
            <a:avLst>
              <a:gd name="adj" fmla="val 7143"/>
            </a:avLst>
          </a:prstGeom>
          <a:solidFill>
            <a:srgbClr val="FFF1E8"/>
          </a:solidFill>
          <a:ln w="17121">
            <a:solidFill>
              <a:srgbClr val="9C4221"/>
            </a:solidFill>
            <a:prstDash val="solid"/>
          </a:ln>
        </p:spPr>
        <p:txBody>
          <a:bodyPr wrap="square" lIns="111284" tIns="87315" rIns="68483" bIns="34241" rtlCol="0" anchor="t"/>
          <a:lstStyle/>
          <a:p>
            <a:pPr algn="l" indent="0" marL="0">
              <a:lnSpc>
                <a:spcPts val="1415"/>
              </a:lnSpc>
              <a:buNone/>
            </a:pPr>
            <a:r>
              <a:rPr lang="en-US" sz="1146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timer.rdl</a:t>
            </a:r>
            <a:endParaRPr lang="en-US" sz="1146" dirty="0"/>
          </a:p>
          <a:p>
            <a:pPr algn="l" indent="0" marL="0">
              <a:lnSpc>
                <a:spcPts val="1415"/>
              </a:lnSpc>
              <a:buNone/>
            </a:pPr>
            <a:r>
              <a:rPr lang="en-US" sz="101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SystemRDL</a:t>
            </a:r>
            <a:endParaRPr lang="en-US" sz="1146" dirty="0"/>
          </a:p>
          <a:p>
            <a:pPr algn="l" indent="0" marL="0">
              <a:lnSpc>
                <a:spcPts val="1415"/>
              </a:lnSpc>
              <a:buNone/>
            </a:pPr>
            <a:r>
              <a:rPr lang="en-US" sz="101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IP-XACT →</a:t>
            </a:r>
            <a:endParaRPr lang="en-US" sz="1146" dirty="0"/>
          </a:p>
          <a:p>
            <a:pPr algn="l" indent="0" marL="0">
              <a:lnSpc>
                <a:spcPts val="1415"/>
              </a:lnSpc>
              <a:buNone/>
            </a:pPr>
            <a:r>
              <a:rPr lang="en-US" sz="101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RDL, Rubix…)</a:t>
            </a:r>
            <a:endParaRPr lang="en-US" sz="1146" dirty="0"/>
          </a:p>
        </p:txBody>
      </p:sp>
      <p:sp>
        <p:nvSpPr>
          <p:cNvPr id="4" name="reg_flow shape 2"/>
          <p:cNvSpPr/>
          <p:nvPr/>
        </p:nvSpPr>
        <p:spPr>
          <a:xfrm>
            <a:off x="3270935" y="2815185"/>
            <a:ext cx="1968878" cy="684827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 w="17121">
            <a:solidFill>
              <a:srgbClr val="1A202C"/>
            </a:solidFill>
            <a:prstDash val="solid"/>
          </a:ln>
        </p:spPr>
      </p:sp>
      <p:sp>
        <p:nvSpPr>
          <p:cNvPr id="5" name="reg_flow text 3"/>
          <p:cNvSpPr txBox="1"/>
          <p:nvPr/>
        </p:nvSpPr>
        <p:spPr>
          <a:xfrm>
            <a:off x="3660191" y="2949753"/>
            <a:ext cx="1190367" cy="20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6"/>
              </a:lnSpc>
              <a:buNone/>
            </a:pPr>
            <a:r>
              <a:rPr lang="en-US" sz="121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peakrdl pss</a:t>
            </a:r>
            <a:endParaRPr lang="en-US" sz="1213" dirty="0"/>
          </a:p>
        </p:txBody>
      </p:sp>
      <p:sp>
        <p:nvSpPr>
          <p:cNvPr id="6" name="reg_flow text 4"/>
          <p:cNvSpPr txBox="1"/>
          <p:nvPr/>
        </p:nvSpPr>
        <p:spPr>
          <a:xfrm>
            <a:off x="3827015" y="3213754"/>
            <a:ext cx="856719" cy="16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2"/>
              </a:lnSpc>
              <a:buNone/>
            </a:pPr>
            <a:r>
              <a:rPr lang="en-US" sz="944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--pad-tail</a:t>
            </a:r>
            <a:endParaRPr lang="en-US" sz="944" dirty="0"/>
          </a:p>
        </p:txBody>
      </p:sp>
      <p:sp>
        <p:nvSpPr>
          <p:cNvPr id="7" name="reg_flow line 5"/>
          <p:cNvSpPr/>
          <p:nvPr/>
        </p:nvSpPr>
        <p:spPr>
          <a:xfrm>
            <a:off x="2842918" y="3157598"/>
            <a:ext cx="393776" cy="0"/>
          </a:xfrm>
          <a:prstGeom prst="line">
            <a:avLst/>
          </a:prstGeom>
          <a:noFill/>
          <a:ln w="2568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8" name="reg_flow box 6"/>
          <p:cNvSpPr/>
          <p:nvPr/>
        </p:nvSpPr>
        <p:spPr>
          <a:xfrm>
            <a:off x="5667831" y="2215961"/>
            <a:ext cx="2568102" cy="1883275"/>
          </a:xfrm>
          <a:prstGeom prst="roundRect">
            <a:avLst>
              <a:gd name="adj" fmla="val 4545"/>
            </a:avLst>
          </a:prstGeom>
          <a:solidFill>
            <a:srgbClr val="EBF4FF"/>
          </a:solidFill>
          <a:ln w="17121">
            <a:solidFill>
              <a:srgbClr val="2B6CB0"/>
            </a:solidFill>
            <a:prstDash val="solid"/>
          </a:ln>
        </p:spPr>
        <p:txBody>
          <a:bodyPr wrap="square" lIns="111284" tIns="66771" rIns="68483" bIns="34241" rtlCol="0" anchor="t"/>
          <a:lstStyle/>
          <a:p>
            <a:pPr algn="l" indent="0" marL="0">
              <a:lnSpc>
                <a:spcPts val="1618"/>
              </a:lnSpc>
              <a:buNone/>
            </a:pPr>
            <a:r>
              <a:rPr lang="en-US" sz="1146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timer_regs_pkg.pss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..._s : packed_s&lt;&gt;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(field layout)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..._c : reg_c&lt;&gt;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(one register)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..._c : reg_group_c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(bank + offsets)</a:t>
            </a:r>
            <a:endParaRPr lang="en-US" sz="1146" dirty="0"/>
          </a:p>
        </p:txBody>
      </p:sp>
      <p:sp>
        <p:nvSpPr>
          <p:cNvPr id="9" name="reg_flow line 7"/>
          <p:cNvSpPr/>
          <p:nvPr/>
        </p:nvSpPr>
        <p:spPr>
          <a:xfrm>
            <a:off x="5239814" y="3157598"/>
            <a:ext cx="393776" cy="0"/>
          </a:xfrm>
          <a:prstGeom prst="line">
            <a:avLst/>
          </a:prstGeom>
          <a:noFill/>
          <a:ln w="2568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0" name="reg_flow box 8"/>
          <p:cNvSpPr/>
          <p:nvPr/>
        </p:nvSpPr>
        <p:spPr>
          <a:xfrm>
            <a:off x="8663950" y="1445530"/>
            <a:ext cx="2396895" cy="770431"/>
          </a:xfrm>
          <a:prstGeom prst="roundRect">
            <a:avLst>
              <a:gd name="adj" fmla="val 11111"/>
            </a:avLst>
          </a:prstGeom>
          <a:solidFill>
            <a:srgbClr val="EBF4FF"/>
          </a:solidFill>
          <a:ln w="17121">
            <a:solidFill>
              <a:srgbClr val="2B6CB0"/>
            </a:solidFill>
            <a:prstDash val="solid"/>
          </a:ln>
        </p:spPr>
        <p:txBody>
          <a:bodyPr wrap="square" lIns="111284" tIns="101012" rIns="68483" bIns="34241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146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by</a:t>
            </a:r>
            <a:endParaRPr lang="en-US" sz="1146" dirty="0"/>
          </a:p>
          <a:p>
            <a:pPr algn="l" indent="0" marL="0">
              <a:lnSpc>
                <a:spcPts val="1281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timer_ch_c.pss</a:t>
            </a:r>
            <a:endParaRPr lang="en-US" sz="1146" dirty="0"/>
          </a:p>
          <a:p>
            <a:pPr algn="l" indent="0" marL="0">
              <a:lnSpc>
                <a:spcPts val="1281"/>
              </a:lnSpc>
              <a:buNone/>
            </a:pPr>
            <a:r>
              <a:rPr lang="en-US" sz="944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timer_c.pss</a:t>
            </a:r>
            <a:endParaRPr lang="en-US" sz="1146" dirty="0"/>
          </a:p>
        </p:txBody>
      </p:sp>
      <p:sp>
        <p:nvSpPr>
          <p:cNvPr id="11" name="reg_flow line 9"/>
          <p:cNvSpPr/>
          <p:nvPr/>
        </p:nvSpPr>
        <p:spPr>
          <a:xfrm flipV="1">
            <a:off x="8235933" y="1873547"/>
            <a:ext cx="393776" cy="856034"/>
          </a:xfrm>
          <a:prstGeom prst="line">
            <a:avLst/>
          </a:prstGeom>
          <a:noFill/>
          <a:ln w="1712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2" name="reg_flow box 10"/>
          <p:cNvSpPr/>
          <p:nvPr/>
        </p:nvSpPr>
        <p:spPr>
          <a:xfrm>
            <a:off x="8663950" y="2643978"/>
            <a:ext cx="2396895" cy="1027241"/>
          </a:xfrm>
          <a:prstGeom prst="roundRect">
            <a:avLst>
              <a:gd name="adj" fmla="val 8333"/>
            </a:avLst>
          </a:prstGeom>
          <a:solidFill>
            <a:srgbClr val="2D3748"/>
          </a:solidFill>
          <a:ln w="17121">
            <a:solidFill>
              <a:srgbClr val="1A202C"/>
            </a:solidFill>
            <a:prstDash val="solid"/>
          </a:ln>
        </p:spPr>
        <p:txBody>
          <a:bodyPr wrap="square" lIns="111284" tIns="101012" rIns="68483" bIns="34241" rtlCol="0" anchor="t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1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pssc  →</a:t>
            </a:r>
            <a:endParaRPr lang="en-US" sz="1146" dirty="0"/>
          </a:p>
          <a:p>
            <a:pPr algn="l" indent="0" marL="0">
              <a:lnSpc>
                <a:spcPts val="1281"/>
              </a:lnSpc>
              <a:buNone/>
            </a:pPr>
            <a:r>
              <a:rPr lang="en-US" sz="94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SV: reg_c #(struct)</a:t>
            </a:r>
            <a:endParaRPr lang="en-US" sz="1146" dirty="0"/>
          </a:p>
          <a:p>
            <a:pPr algn="l" indent="0" marL="0">
              <a:lnSpc>
                <a:spcPts val="1281"/>
              </a:lnSpc>
              <a:buNone/>
            </a:pPr>
            <a:r>
              <a:rPr lang="en-US" sz="94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 bitfield unions</a:t>
            </a:r>
            <a:endParaRPr lang="en-US" sz="1146" dirty="0"/>
          </a:p>
          <a:p>
            <a:pPr algn="l" indent="0" marL="0">
              <a:lnSpc>
                <a:spcPts val="1281"/>
              </a:lnSpc>
              <a:buNone/>
            </a:pPr>
            <a:r>
              <a:rPr lang="en-US" sz="94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Py: _RegValue classes</a:t>
            </a:r>
            <a:endParaRPr lang="en-US" sz="1146" dirty="0"/>
          </a:p>
        </p:txBody>
      </p:sp>
      <p:sp>
        <p:nvSpPr>
          <p:cNvPr id="13" name="reg_flow shape 11"/>
          <p:cNvSpPr/>
          <p:nvPr/>
        </p:nvSpPr>
        <p:spPr>
          <a:xfrm>
            <a:off x="8663950" y="2643978"/>
            <a:ext cx="2396895" cy="1027241"/>
          </a:xfrm>
          <a:prstGeom prst="roundRect">
            <a:avLst>
              <a:gd name="adj" fmla="val 8333"/>
            </a:avLst>
          </a:prstGeom>
          <a:solidFill>
            <a:srgbClr val="2D3748"/>
          </a:solidFill>
          <a:ln w="17121">
            <a:solidFill>
              <a:srgbClr val="1A202C"/>
            </a:solidFill>
            <a:prstDash val="solid"/>
          </a:ln>
        </p:spPr>
      </p:sp>
      <p:sp>
        <p:nvSpPr>
          <p:cNvPr id="14" name="reg_flow text 12"/>
          <p:cNvSpPr txBox="1"/>
          <p:nvPr/>
        </p:nvSpPr>
        <p:spPr>
          <a:xfrm>
            <a:off x="8792355" y="2735402"/>
            <a:ext cx="599005" cy="19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pssc →</a:t>
            </a:r>
            <a:endParaRPr lang="en-US" sz="1146" dirty="0"/>
          </a:p>
        </p:txBody>
      </p:sp>
      <p:sp>
        <p:nvSpPr>
          <p:cNvPr id="15" name="reg_flow text 13"/>
          <p:cNvSpPr txBox="1"/>
          <p:nvPr/>
        </p:nvSpPr>
        <p:spPr>
          <a:xfrm>
            <a:off x="8792355" y="2964135"/>
            <a:ext cx="1742611" cy="582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3"/>
              </a:lnSpc>
              <a:buNone/>
            </a:pPr>
            <a:r>
              <a:rPr lang="en-US" sz="944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SV: reg_c #(struct)</a:t>
            </a:r>
            <a:endParaRPr lang="en-US" sz="944" dirty="0"/>
          </a:p>
          <a:p>
            <a:pPr algn="l" indent="0" marL="0">
              <a:lnSpc>
                <a:spcPts val="1483"/>
              </a:lnSpc>
              <a:buNone/>
            </a:pPr>
            <a:r>
              <a:rPr lang="en-US" sz="944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 bitfield unions</a:t>
            </a:r>
            <a:endParaRPr lang="en-US" sz="944" dirty="0"/>
          </a:p>
          <a:p>
            <a:pPr algn="l" indent="0" marL="0">
              <a:lnSpc>
                <a:spcPts val="1483"/>
              </a:lnSpc>
              <a:buNone/>
            </a:pPr>
            <a:r>
              <a:rPr lang="en-US" sz="944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Py: _RegValue classes</a:t>
            </a:r>
            <a:endParaRPr lang="en-US" sz="944" dirty="0"/>
          </a:p>
        </p:txBody>
      </p:sp>
      <p:sp>
        <p:nvSpPr>
          <p:cNvPr id="16" name="reg_flow line 14"/>
          <p:cNvSpPr/>
          <p:nvPr/>
        </p:nvSpPr>
        <p:spPr>
          <a:xfrm>
            <a:off x="8235933" y="3157598"/>
            <a:ext cx="393776" cy="0"/>
          </a:xfrm>
          <a:prstGeom prst="line">
            <a:avLst/>
          </a:prstGeom>
          <a:noFill/>
          <a:ln w="2568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17" name="reg_flow box 15"/>
          <p:cNvSpPr/>
          <p:nvPr/>
        </p:nvSpPr>
        <p:spPr>
          <a:xfrm>
            <a:off x="8663950" y="4013632"/>
            <a:ext cx="2396895" cy="102724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7121">
            <a:solidFill>
              <a:srgbClr val="718096"/>
            </a:solidFill>
            <a:prstDash val="solid"/>
          </a:ln>
        </p:spPr>
        <p:txBody>
          <a:bodyPr wrap="square" lIns="111284" tIns="66771" rIns="68483" bIns="34241" rtlCol="0" anchor="t"/>
          <a:lstStyle/>
          <a:p>
            <a:pPr algn="l" indent="0" marL="0">
              <a:lnSpc>
                <a:spcPts val="1618"/>
              </a:lnSpc>
              <a:buNone/>
            </a:pPr>
            <a:r>
              <a:rPr lang="en-US" sz="1146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RDL also feeds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(peakrdl-regblock)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UVM RAL (peakrdl-uvm)</a:t>
            </a:r>
            <a:endParaRPr lang="en-US" sz="1146" dirty="0"/>
          </a:p>
          <a:p>
            <a:pPr algn="l" indent="0" marL="0">
              <a:lnSpc>
                <a:spcPts val="1618"/>
              </a:lnSpc>
              <a:buNone/>
            </a:pPr>
            <a:r>
              <a:rPr lang="en-US" sz="944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(peakrdl-html)</a:t>
            </a:r>
            <a:endParaRPr lang="en-US" sz="1146" dirty="0"/>
          </a:p>
        </p:txBody>
      </p:sp>
      <p:sp>
        <p:nvSpPr>
          <p:cNvPr id="18" name="reg_flow connector 16"/>
          <p:cNvSpPr/>
          <p:nvPr/>
        </p:nvSpPr>
        <p:spPr>
          <a:xfrm>
            <a:off x="1986884" y="3756822"/>
            <a:ext cx="6642824" cy="1027241"/>
          </a:xfrm>
          <a:custGeom>
            <a:avLst/>
            <a:gdLst/>
            <a:ahLst/>
            <a:cxnLst/>
            <a:rect l="l" t="t" r="r" b="b"/>
            <a:pathLst>
              <a:path w="6642824" h="1027241">
                <a:moveTo>
                  <a:pt x="0" y="0"/>
                </a:moveTo>
                <a:cubicBezTo>
                  <a:pt x="0" y="1027241"/>
                  <a:pt x="4108963" y="1027241"/>
                  <a:pt x="6642824" y="856034"/>
                </a:cubicBezTo>
              </a:path>
            </a:pathLst>
          </a:custGeom>
          <a:ln w="17121">
            <a:solidFill>
              <a:srgbClr val="718096"/>
            </a:solidFill>
            <a:prstDash val="dash"/>
            <a:tailEnd type="triangle"/>
          </a:ln>
        </p:spPr>
      </p:sp>
      <p:sp>
        <p:nvSpPr>
          <p:cNvPr id="19" name="reg_flow text 17"/>
          <p:cNvSpPr txBox="1"/>
          <p:nvPr/>
        </p:nvSpPr>
        <p:spPr>
          <a:xfrm>
            <a:off x="3973883" y="4497805"/>
            <a:ext cx="2531861" cy="160934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2"/>
              </a:lnSpc>
              <a:buNone/>
            </a:pPr>
            <a:r>
              <a:rPr lang="en-US" sz="944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register spec, many consumers</a:t>
            </a:r>
            <a:endParaRPr lang="en-US" sz="944" dirty="0"/>
          </a:p>
        </p:txBody>
      </p:sp>
      <p:sp>
        <p:nvSpPr>
          <p:cNvPr id="20" name="peakrdl command card"/>
          <p:cNvSpPr/>
          <p:nvPr/>
        </p:nvSpPr>
        <p:spPr>
          <a:xfrm>
            <a:off x="548640" y="5394960"/>
            <a:ext cx="11094415" cy="506730"/>
          </a:xfrm>
          <a:prstGeom prst="roundRect">
            <a:avLst>
              <a:gd name="adj" fmla="val 1082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peakrdl command"/>
          <p:cNvSpPr txBox="1"/>
          <p:nvPr/>
        </p:nvSpPr>
        <p:spPr>
          <a:xfrm>
            <a:off x="685800" y="5504688"/>
            <a:ext cx="1082009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peakrdl pss rdl/timer.rdl --pad-tail -o pss/timer_regs_pkg.pss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PSS register-model anatomy</a:t>
            </a:r>
            <a:endParaRPr lang="en-US" sz="3200" dirty="0"/>
          </a:p>
        </p:txBody>
      </p:sp>
      <p:sp>
        <p:nvSpPr>
          <p:cNvPr id="3" name="reg_anatomy text 1"/>
          <p:cNvSpPr txBox="1"/>
          <p:nvPr/>
        </p:nvSpPr>
        <p:spPr>
          <a:xfrm>
            <a:off x="826000" y="1470984"/>
            <a:ext cx="5423394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timer_ch_regs__ctrl_s : packed_s&lt;LITTLE_ENDIAN&gt;</a:t>
            </a:r>
            <a:endParaRPr lang="en-US" sz="1165" dirty="0"/>
          </a:p>
        </p:txBody>
      </p:sp>
      <p:sp>
        <p:nvSpPr>
          <p:cNvPr id="4" name="reg_anatomy shape 2"/>
          <p:cNvSpPr/>
          <p:nvPr/>
        </p:nvSpPr>
        <p:spPr>
          <a:xfrm>
            <a:off x="826000" y="1760918"/>
            <a:ext cx="3883045" cy="517739"/>
          </a:xfrm>
          <a:prstGeom prst="rect">
            <a:avLst/>
          </a:prstGeom>
          <a:solidFill>
            <a:srgbClr val="FFFFFF"/>
          </a:solidFill>
          <a:ln w="13868">
            <a:solidFill>
              <a:srgbClr val="718096"/>
            </a:solidFill>
            <a:prstDash val="solid"/>
          </a:ln>
        </p:spPr>
      </p:sp>
      <p:sp>
        <p:nvSpPr>
          <p:cNvPr id="5" name="reg_anatomy text 3"/>
          <p:cNvSpPr txBox="1"/>
          <p:nvPr/>
        </p:nvSpPr>
        <p:spPr>
          <a:xfrm>
            <a:off x="2460208" y="1942127"/>
            <a:ext cx="614631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rsvd_8</a:t>
            </a:r>
            <a:endParaRPr lang="en-US" sz="1092" dirty="0"/>
          </a:p>
        </p:txBody>
      </p:sp>
      <p:sp>
        <p:nvSpPr>
          <p:cNvPr id="6" name="reg_anatomy text 4"/>
          <p:cNvSpPr txBox="1"/>
          <p:nvPr/>
        </p:nvSpPr>
        <p:spPr>
          <a:xfrm>
            <a:off x="862982" y="2338567"/>
            <a:ext cx="204581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874" dirty="0"/>
          </a:p>
        </p:txBody>
      </p:sp>
      <p:sp>
        <p:nvSpPr>
          <p:cNvPr id="7" name="reg_anatomy text 5"/>
          <p:cNvSpPr txBox="1"/>
          <p:nvPr/>
        </p:nvSpPr>
        <p:spPr>
          <a:xfrm>
            <a:off x="4542038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74" dirty="0"/>
          </a:p>
        </p:txBody>
      </p:sp>
      <p:sp>
        <p:nvSpPr>
          <p:cNvPr id="8" name="reg_anatomy shape 6"/>
          <p:cNvSpPr/>
          <p:nvPr/>
        </p:nvSpPr>
        <p:spPr>
          <a:xfrm>
            <a:off x="4709046" y="1760918"/>
            <a:ext cx="2033976" cy="517739"/>
          </a:xfrm>
          <a:prstGeom prst="rect">
            <a:avLst/>
          </a:prstGeom>
          <a:solidFill>
            <a:srgbClr val="EBF4FF"/>
          </a:solidFill>
          <a:ln w="13868">
            <a:solidFill>
              <a:srgbClr val="2B6CB0"/>
            </a:solidFill>
            <a:prstDash val="solid"/>
          </a:ln>
        </p:spPr>
      </p:sp>
      <p:sp>
        <p:nvSpPr>
          <p:cNvPr id="9" name="reg_anatomy text 7"/>
          <p:cNvSpPr txBox="1"/>
          <p:nvPr/>
        </p:nvSpPr>
        <p:spPr>
          <a:xfrm>
            <a:off x="5325525" y="1942127"/>
            <a:ext cx="801017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prescale</a:t>
            </a:r>
            <a:endParaRPr lang="en-US" sz="1092" dirty="0"/>
          </a:p>
        </p:txBody>
      </p:sp>
      <p:sp>
        <p:nvSpPr>
          <p:cNvPr id="10" name="reg_anatomy text 8"/>
          <p:cNvSpPr txBox="1"/>
          <p:nvPr/>
        </p:nvSpPr>
        <p:spPr>
          <a:xfrm>
            <a:off x="4746027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74" dirty="0"/>
          </a:p>
        </p:txBody>
      </p:sp>
      <p:sp>
        <p:nvSpPr>
          <p:cNvPr id="11" name="reg_anatomy text 9"/>
          <p:cNvSpPr txBox="1"/>
          <p:nvPr/>
        </p:nvSpPr>
        <p:spPr>
          <a:xfrm>
            <a:off x="6576014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74" dirty="0"/>
          </a:p>
        </p:txBody>
      </p:sp>
      <p:sp>
        <p:nvSpPr>
          <p:cNvPr id="12" name="reg_anatomy shape 10"/>
          <p:cNvSpPr/>
          <p:nvPr/>
        </p:nvSpPr>
        <p:spPr>
          <a:xfrm>
            <a:off x="6743022" y="1760918"/>
            <a:ext cx="832081" cy="517739"/>
          </a:xfrm>
          <a:prstGeom prst="rect">
            <a:avLst/>
          </a:prstGeom>
          <a:solidFill>
            <a:srgbClr val="FFFFFF"/>
          </a:solidFill>
          <a:ln w="13868">
            <a:solidFill>
              <a:srgbClr val="718096"/>
            </a:solidFill>
            <a:prstDash val="solid"/>
          </a:ln>
        </p:spPr>
      </p:sp>
      <p:sp>
        <p:nvSpPr>
          <p:cNvPr id="13" name="reg_anatomy text 11"/>
          <p:cNvSpPr txBox="1"/>
          <p:nvPr/>
        </p:nvSpPr>
        <p:spPr>
          <a:xfrm>
            <a:off x="6944940" y="1942127"/>
            <a:ext cx="428244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rsvd</a:t>
            </a:r>
            <a:endParaRPr lang="en-US" sz="1092" dirty="0"/>
          </a:p>
        </p:txBody>
      </p:sp>
      <p:sp>
        <p:nvSpPr>
          <p:cNvPr id="14" name="reg_anatomy text 12"/>
          <p:cNvSpPr txBox="1"/>
          <p:nvPr/>
        </p:nvSpPr>
        <p:spPr>
          <a:xfrm>
            <a:off x="6780003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74" dirty="0"/>
          </a:p>
        </p:txBody>
      </p:sp>
      <p:sp>
        <p:nvSpPr>
          <p:cNvPr id="15" name="reg_anatomy shape 13"/>
          <p:cNvSpPr/>
          <p:nvPr/>
        </p:nvSpPr>
        <p:spPr>
          <a:xfrm>
            <a:off x="7575103" y="1760918"/>
            <a:ext cx="1016988" cy="517739"/>
          </a:xfrm>
          <a:prstGeom prst="rect">
            <a:avLst/>
          </a:prstGeom>
          <a:solidFill>
            <a:srgbClr val="EBF4FF"/>
          </a:solidFill>
          <a:ln w="13868">
            <a:solidFill>
              <a:srgbClr val="2B6CB0"/>
            </a:solidFill>
            <a:prstDash val="solid"/>
          </a:ln>
        </p:spPr>
      </p:sp>
      <p:sp>
        <p:nvSpPr>
          <p:cNvPr id="16" name="reg_anatomy text 14"/>
          <p:cNvSpPr txBox="1"/>
          <p:nvPr/>
        </p:nvSpPr>
        <p:spPr>
          <a:xfrm>
            <a:off x="7869475" y="1942127"/>
            <a:ext cx="428244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1092" dirty="0"/>
          </a:p>
        </p:txBody>
      </p:sp>
      <p:sp>
        <p:nvSpPr>
          <p:cNvPr id="17" name="reg_anatomy text 15"/>
          <p:cNvSpPr txBox="1"/>
          <p:nvPr/>
        </p:nvSpPr>
        <p:spPr>
          <a:xfrm>
            <a:off x="7612084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74" dirty="0"/>
          </a:p>
        </p:txBody>
      </p:sp>
      <p:sp>
        <p:nvSpPr>
          <p:cNvPr id="18" name="reg_anatomy shape 16"/>
          <p:cNvSpPr/>
          <p:nvPr/>
        </p:nvSpPr>
        <p:spPr>
          <a:xfrm>
            <a:off x="8592091" y="1760918"/>
            <a:ext cx="1016988" cy="517739"/>
          </a:xfrm>
          <a:prstGeom prst="rect">
            <a:avLst/>
          </a:prstGeom>
          <a:solidFill>
            <a:srgbClr val="EBF4FF"/>
          </a:solidFill>
          <a:ln w="13868">
            <a:solidFill>
              <a:srgbClr val="2B6CB0"/>
            </a:solidFill>
            <a:prstDash val="solid"/>
          </a:ln>
        </p:spPr>
      </p:sp>
      <p:sp>
        <p:nvSpPr>
          <p:cNvPr id="19" name="reg_anatomy text 17"/>
          <p:cNvSpPr txBox="1"/>
          <p:nvPr/>
        </p:nvSpPr>
        <p:spPr>
          <a:xfrm>
            <a:off x="8793270" y="1942127"/>
            <a:ext cx="614631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irq_en</a:t>
            </a:r>
            <a:endParaRPr lang="en-US" sz="1092" dirty="0"/>
          </a:p>
        </p:txBody>
      </p:sp>
      <p:sp>
        <p:nvSpPr>
          <p:cNvPr id="20" name="reg_anatomy text 18"/>
          <p:cNvSpPr txBox="1"/>
          <p:nvPr/>
        </p:nvSpPr>
        <p:spPr>
          <a:xfrm>
            <a:off x="8629072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74" dirty="0"/>
          </a:p>
        </p:txBody>
      </p:sp>
      <p:sp>
        <p:nvSpPr>
          <p:cNvPr id="21" name="reg_anatomy shape 19"/>
          <p:cNvSpPr/>
          <p:nvPr/>
        </p:nvSpPr>
        <p:spPr>
          <a:xfrm>
            <a:off x="9609079" y="1760918"/>
            <a:ext cx="1016988" cy="517739"/>
          </a:xfrm>
          <a:prstGeom prst="rect">
            <a:avLst/>
          </a:prstGeom>
          <a:solidFill>
            <a:srgbClr val="EBF4FF"/>
          </a:solidFill>
          <a:ln w="13868">
            <a:solidFill>
              <a:srgbClr val="2B6CB0"/>
            </a:solidFill>
            <a:prstDash val="solid"/>
          </a:ln>
        </p:spPr>
      </p:sp>
      <p:sp>
        <p:nvSpPr>
          <p:cNvPr id="22" name="reg_anatomy text 20"/>
          <p:cNvSpPr txBox="1"/>
          <p:nvPr/>
        </p:nvSpPr>
        <p:spPr>
          <a:xfrm>
            <a:off x="9996644" y="1942127"/>
            <a:ext cx="241858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1092" dirty="0"/>
          </a:p>
        </p:txBody>
      </p:sp>
      <p:sp>
        <p:nvSpPr>
          <p:cNvPr id="23" name="reg_anatomy text 21"/>
          <p:cNvSpPr txBox="1"/>
          <p:nvPr/>
        </p:nvSpPr>
        <p:spPr>
          <a:xfrm>
            <a:off x="9646060" y="2338567"/>
            <a:ext cx="130027" cy="15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74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74" dirty="0"/>
          </a:p>
        </p:txBody>
      </p:sp>
      <p:sp>
        <p:nvSpPr>
          <p:cNvPr id="24" name="reg_anatomy text 22"/>
          <p:cNvSpPr txBox="1"/>
          <p:nvPr/>
        </p:nvSpPr>
        <p:spPr>
          <a:xfrm>
            <a:off x="10718521" y="1951002"/>
            <a:ext cx="119201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field layout</a:t>
            </a:r>
            <a:endParaRPr lang="en-US" sz="1019" dirty="0"/>
          </a:p>
        </p:txBody>
      </p:sp>
      <p:sp>
        <p:nvSpPr>
          <p:cNvPr id="25" name="reg_anatomy box 23"/>
          <p:cNvSpPr/>
          <p:nvPr/>
        </p:nvSpPr>
        <p:spPr>
          <a:xfrm>
            <a:off x="826000" y="2759415"/>
            <a:ext cx="4992487" cy="1386802"/>
          </a:xfrm>
          <a:prstGeom prst="roundRect">
            <a:avLst>
              <a:gd name="adj" fmla="val 6667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53623" rIns="73963" bIns="36981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092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component timer_ch_regs__ctrl_c</a:t>
            </a: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reg_c&lt;timer_ch_regs__ctrl_s, READWRITE, 32&gt; {}</a:t>
            </a: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read()  write(v)  write_masked(m, v)</a:t>
            </a:r>
            <a:endParaRPr lang="en-US" sz="1092" dirty="0"/>
          </a:p>
          <a:p>
            <a:pPr algn="l" indent="0" marL="0">
              <a:lnSpc>
                <a:spcPts val="1747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read_val()  write_val(raw)  write_field("en", 1)</a:t>
            </a:r>
            <a:endParaRPr lang="en-US" sz="1092" dirty="0"/>
          </a:p>
        </p:txBody>
      </p:sp>
      <p:sp>
        <p:nvSpPr>
          <p:cNvPr id="26" name="reg_anatomy text 24"/>
          <p:cNvSpPr txBox="1"/>
          <p:nvPr/>
        </p:nvSpPr>
        <p:spPr>
          <a:xfrm>
            <a:off x="5910941" y="2981304"/>
            <a:ext cx="2490918" cy="388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one register:</a:t>
            </a:r>
            <a:endParaRPr lang="en-US" sz="1019" dirty="0"/>
          </a:p>
          <a:p>
            <a:pPr algn="l" indent="0" marL="0">
              <a:lnSpc>
                <a:spcPts val="1456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value type + access + width</a:t>
            </a:r>
            <a:endParaRPr lang="en-US" sz="1019" dirty="0"/>
          </a:p>
        </p:txBody>
      </p:sp>
      <p:sp>
        <p:nvSpPr>
          <p:cNvPr id="27" name="reg_anatomy box 25"/>
          <p:cNvSpPr/>
          <p:nvPr/>
        </p:nvSpPr>
        <p:spPr>
          <a:xfrm>
            <a:off x="826000" y="4423578"/>
            <a:ext cx="4992487" cy="1479255"/>
          </a:xfrm>
          <a:prstGeom prst="roundRect">
            <a:avLst>
              <a:gd name="adj" fmla="val 6250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61019" rIns="73963" bIns="36981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92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component timer_ch_regs_c : reg_group_c</a:t>
            </a:r>
            <a:endParaRPr lang="en-US" sz="1092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timer_ch_regs__ctrl_c   ctrl;     // @0x0</a:t>
            </a:r>
            <a:endParaRPr lang="en-US" sz="1092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timer_ch_regs__load_c   load;     // @0x4</a:t>
            </a:r>
            <a:endParaRPr lang="en-US" sz="1092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timer_ch_regs__status_c status;   // @0x8</a:t>
            </a:r>
            <a:endParaRPr lang="en-US" sz="1092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timer_ch_regs__count_c  count;    // @0xC</a:t>
            </a:r>
            <a:endParaRPr lang="en-US" sz="1092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019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get_offset_of_instance("load") → 0x4</a:t>
            </a:r>
            <a:endParaRPr lang="en-US" sz="1092" dirty="0"/>
          </a:p>
        </p:txBody>
      </p:sp>
      <p:sp>
        <p:nvSpPr>
          <p:cNvPr id="28" name="reg_anatomy text 26"/>
          <p:cNvSpPr txBox="1"/>
          <p:nvPr/>
        </p:nvSpPr>
        <p:spPr>
          <a:xfrm>
            <a:off x="5910941" y="4669134"/>
            <a:ext cx="2409737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 bank: registers + offsets</a:t>
            </a:r>
            <a:endParaRPr lang="en-US" sz="1019" dirty="0"/>
          </a:p>
        </p:txBody>
      </p:sp>
      <p:sp>
        <p:nvSpPr>
          <p:cNvPr id="29" name="reg_anatomy box 27"/>
          <p:cNvSpPr/>
          <p:nvPr/>
        </p:nvSpPr>
        <p:spPr>
          <a:xfrm>
            <a:off x="8129824" y="2759415"/>
            <a:ext cx="3235871" cy="3143418"/>
          </a:xfrm>
          <a:prstGeom prst="roundRect">
            <a:avLst>
              <a:gd name="adj" fmla="val 2941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  <p:txBody>
          <a:bodyPr wrap="square" lIns="120189" tIns="55472" rIns="73963" bIns="36981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operation model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timer_ch_c {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timer_ch_regs_c regs;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init: regs.set_handle(h);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regs.load.write_val(t);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sts = regs.status.read();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(sts.done == 1) ...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regs.ctrl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.write_field("en", 1);</a:t>
            </a:r>
            <a:endParaRPr lang="en-US" sz="1165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019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6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Generated register package (excerpt)</a:t>
            </a:r>
            <a:endParaRPr lang="en-US" sz="3200" dirty="0"/>
          </a:p>
        </p:txBody>
      </p:sp>
      <p:sp>
        <p:nvSpPr>
          <p:cNvPr id="3" name="regs pkg card"/>
          <p:cNvSpPr/>
          <p:nvPr/>
        </p:nvSpPr>
        <p:spPr>
          <a:xfrm>
            <a:off x="548640" y="1188720"/>
            <a:ext cx="11094415" cy="4341495"/>
          </a:xfrm>
          <a:prstGeom prst="roundRect">
            <a:avLst>
              <a:gd name="adj" fmla="val 12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regs pkg"/>
          <p:cNvSpPr txBox="1"/>
          <p:nvPr/>
        </p:nvSpPr>
        <p:spPr>
          <a:xfrm>
            <a:off x="685800" y="1298448"/>
            <a:ext cx="10820095" cy="4122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timer_regs_pkg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addr_reg_pkg::*;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timer_ch_regs__status_s : packed_s&lt;LITTLE_ENDIAN&gt;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bit done;       // [0] sw=rw hw=w reset=0x0 dropped: onwrite=woclr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bit busy;       // [1] sw=r hw=w reset=0x0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bit[30] rsvd_2; // [31:2] reserved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pure component timer_ch_regs__status_c : reg_c&lt;timer_ch_regs__status_s, READWRITE, 32&gt; {}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pure component timer_ch_regs_c : reg_group_c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timer_ch_regs__ctrl_c   ctrl;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timer_ch_regs__load_c   load;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timer_ch_regs__status_c status;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timer_ch_regs__count_c  count;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pure function bit[64] get_offset_of_instance(string name)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(name) { ["ctrl"]: return 0x0;  ["load"]: return 0x4;  /* ... */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7375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onwrite = woclr</a:t>
            </a:r>
            <a:r>
              <a:rPr lang="en-US" sz="1600" dirty="0">
                <a:solidFill>
                  <a:schemeClr val="tx1"/>
                </a:solidFill>
              </a:rPr>
              <a:t> has no PSS equivalent: peakrdl-pss warns (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PSS-W101</a:t>
            </a:r>
            <a:r>
              <a:rPr lang="en-US" sz="1600" dirty="0">
                <a:solidFill>
                  <a:schemeClr val="tx1"/>
                </a:solidFill>
              </a:rPr>
              <a:t>) and keeps it as a comment.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Register and memory access functions</a:t>
            </a:r>
            <a:endParaRPr lang="en-US" sz="32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read()</a:t>
                      </a: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reg_c&lt;R&gt;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access; value is the packed struct </a:t>
                      </a: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read_val()</a:t>
                      </a: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write_val(raw)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reg_c&lt;R&gt;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access; raw </a:t>
                      </a: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bit[N]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write_field("en",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reg_c&lt;R&gt;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read-modify-write</a:t>
                      </a: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of one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write_masked(mask,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reg_c&lt;R&gt;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read-modify-write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set_handle(h)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reg_group_c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binds the bank to an address (init only)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get_offset_of_instance[_array]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reg_group_c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folded to a constant by pssc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read32(h)</a:t>
                      </a: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write32(h, v)</a:t>
                      </a: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8/16/64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addr_handle_t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memory access (Lab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make_handle_from_handle(h, off)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C42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addr_handle_t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address arithmetic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field name in </a:t>
            </a:r>
            <a:r>
              <a:rPr lang="en-US" sz="14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write_field</a:t>
            </a:r>
            <a:r>
              <a:rPr lang="en-US" sz="1600" dirty="0">
                <a:solidFill>
                  <a:schemeClr val="tx1"/>
                </a:solidFill>
              </a:rPr>
              <a:t> is </a:t>
            </a:r>
            <a:r>
              <a:rPr lang="en-US" sz="1600" b="1" dirty="0">
                <a:solidFill>
                  <a:schemeClr val="tx1"/>
                </a:solidFill>
              </a:rPr>
              <a:t>resolved at compile time</a:t>
            </a:r>
            <a:r>
              <a:rPr lang="en-US" sz="1600" dirty="0">
                <a:solidFill>
                  <a:schemeClr val="tx1"/>
                </a:solidFill>
              </a:rPr>
              <a:t>, so a typo is an error rather than a wrong bit.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Binding registers to addresses</a:t>
            </a:r>
            <a:endParaRPr lang="en-US" sz="3200" dirty="0"/>
          </a:p>
        </p:txBody>
      </p:sp>
      <p:sp>
        <p:nvSpPr>
          <p:cNvPr id="3" name="address_binding shape 1"/>
          <p:cNvSpPr/>
          <p:nvPr/>
        </p:nvSpPr>
        <p:spPr>
          <a:xfrm>
            <a:off x="8222277" y="1465067"/>
            <a:ext cx="3143418" cy="4067952"/>
          </a:xfrm>
          <a:prstGeom prst="roundRect">
            <a:avLst>
              <a:gd name="adj" fmla="val 2941"/>
            </a:avLst>
          </a:prstGeom>
          <a:solidFill>
            <a:srgbClr val="FFF1E8"/>
          </a:solidFill>
          <a:ln w="18491">
            <a:solidFill>
              <a:srgbClr val="9C4221"/>
            </a:solidFill>
            <a:prstDash val="solid"/>
          </a:ln>
        </p:spPr>
      </p:sp>
      <p:sp>
        <p:nvSpPr>
          <p:cNvPr id="4" name="address_binding text 2"/>
          <p:cNvSpPr txBox="1"/>
          <p:nvPr/>
        </p:nvSpPr>
        <p:spPr>
          <a:xfrm>
            <a:off x="9255966" y="1600419"/>
            <a:ext cx="1076040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652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map</a:t>
            </a:r>
            <a:endParaRPr lang="en-US" sz="1165" dirty="0"/>
          </a:p>
        </p:txBody>
      </p:sp>
      <p:sp>
        <p:nvSpPr>
          <p:cNvPr id="5" name="address_binding shape 3"/>
          <p:cNvSpPr/>
          <p:nvPr/>
        </p:nvSpPr>
        <p:spPr>
          <a:xfrm>
            <a:off x="8407184" y="1927334"/>
            <a:ext cx="2773604" cy="55472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6" name="address_binding text 4"/>
          <p:cNvSpPr txBox="1"/>
          <p:nvPr/>
        </p:nvSpPr>
        <p:spPr>
          <a:xfrm>
            <a:off x="8499638" y="2006474"/>
            <a:ext cx="101225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0x4000_0000</a:t>
            </a:r>
            <a:endParaRPr lang="en-US" sz="1019" dirty="0"/>
          </a:p>
        </p:txBody>
      </p:sp>
      <p:sp>
        <p:nvSpPr>
          <p:cNvPr id="7" name="address_binding text 5"/>
          <p:cNvSpPr txBox="1"/>
          <p:nvPr/>
        </p:nvSpPr>
        <p:spPr>
          <a:xfrm>
            <a:off x="8499638" y="2228363"/>
            <a:ext cx="22943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19" dirty="0"/>
          </a:p>
        </p:txBody>
      </p:sp>
      <p:sp>
        <p:nvSpPr>
          <p:cNvPr id="8" name="address_binding shape 6"/>
          <p:cNvSpPr/>
          <p:nvPr/>
        </p:nvSpPr>
        <p:spPr>
          <a:xfrm>
            <a:off x="8407184" y="2759415"/>
            <a:ext cx="2773604" cy="110944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9" name="address_binding text 7"/>
          <p:cNvSpPr txBox="1"/>
          <p:nvPr/>
        </p:nvSpPr>
        <p:spPr>
          <a:xfrm>
            <a:off x="8499638" y="2838556"/>
            <a:ext cx="101225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0x4000_0100</a:t>
            </a:r>
            <a:endParaRPr lang="en-US" sz="1019" dirty="0"/>
          </a:p>
        </p:txBody>
      </p:sp>
      <p:sp>
        <p:nvSpPr>
          <p:cNvPr id="10" name="address_binding text 8"/>
          <p:cNvSpPr txBox="1"/>
          <p:nvPr/>
        </p:nvSpPr>
        <p:spPr>
          <a:xfrm>
            <a:off x="8499638" y="3060444"/>
            <a:ext cx="49037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ch[0]</a:t>
            </a:r>
            <a:endParaRPr lang="en-US" sz="1019" dirty="0"/>
          </a:p>
        </p:txBody>
      </p:sp>
      <p:sp>
        <p:nvSpPr>
          <p:cNvPr id="11" name="address_binding text 9"/>
          <p:cNvSpPr txBox="1"/>
          <p:nvPr/>
        </p:nvSpPr>
        <p:spPr>
          <a:xfrm>
            <a:off x="8499638" y="3309698"/>
            <a:ext cx="1832354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LOAD STATUS COUNT</a:t>
            </a:r>
            <a:endParaRPr lang="en-US" sz="946" dirty="0"/>
          </a:p>
        </p:txBody>
      </p:sp>
      <p:sp>
        <p:nvSpPr>
          <p:cNvPr id="12" name="address_binding shape 10"/>
          <p:cNvSpPr/>
          <p:nvPr/>
        </p:nvSpPr>
        <p:spPr>
          <a:xfrm>
            <a:off x="8407184" y="4053764"/>
            <a:ext cx="2773604" cy="110944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</p:sp>
      <p:sp>
        <p:nvSpPr>
          <p:cNvPr id="13" name="address_binding text 11"/>
          <p:cNvSpPr txBox="1"/>
          <p:nvPr/>
        </p:nvSpPr>
        <p:spPr>
          <a:xfrm>
            <a:off x="8499638" y="4132904"/>
            <a:ext cx="101225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b="1" dirty="0">
                <a:solidFill>
                  <a:srgbClr val="652B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0x4000_0200</a:t>
            </a:r>
            <a:endParaRPr lang="en-US" sz="1019" dirty="0"/>
          </a:p>
        </p:txBody>
      </p:sp>
      <p:sp>
        <p:nvSpPr>
          <p:cNvPr id="14" name="address_binding text 12"/>
          <p:cNvSpPr txBox="1"/>
          <p:nvPr/>
        </p:nvSpPr>
        <p:spPr>
          <a:xfrm>
            <a:off x="8499638" y="4354792"/>
            <a:ext cx="49037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ch[1]</a:t>
            </a:r>
            <a:endParaRPr lang="en-US" sz="1019" dirty="0"/>
          </a:p>
        </p:txBody>
      </p:sp>
      <p:sp>
        <p:nvSpPr>
          <p:cNvPr id="15" name="address_binding text 13"/>
          <p:cNvSpPr txBox="1"/>
          <p:nvPr/>
        </p:nvSpPr>
        <p:spPr>
          <a:xfrm>
            <a:off x="8499638" y="4604047"/>
            <a:ext cx="1832354" cy="16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946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LOAD STATUS COUNT</a:t>
            </a:r>
            <a:endParaRPr lang="en-US" sz="946" dirty="0"/>
          </a:p>
        </p:txBody>
      </p:sp>
      <p:sp>
        <p:nvSpPr>
          <p:cNvPr id="16" name="address_binding box 14"/>
          <p:cNvSpPr/>
          <p:nvPr/>
        </p:nvSpPr>
        <p:spPr>
          <a:xfrm>
            <a:off x="733547" y="1465067"/>
            <a:ext cx="7026463" cy="2496243"/>
          </a:xfrm>
          <a:prstGeom prst="roundRect">
            <a:avLst>
              <a:gd name="adj" fmla="val 3704"/>
            </a:avLst>
          </a:prstGeom>
          <a:solidFill>
            <a:srgbClr val="EBF4FF"/>
          </a:solidFill>
          <a:ln w="18491">
            <a:solidFill>
              <a:srgbClr val="2B6CB0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238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timer_c::initialize</a:t>
            </a:r>
            <a:endParaRPr lang="en-US" sz="1238" dirty="0"/>
          </a:p>
        </p:txBody>
      </p:sp>
      <p:sp>
        <p:nvSpPr>
          <p:cNvPr id="17" name="address_binding text 15"/>
          <p:cNvSpPr txBox="1"/>
          <p:nvPr/>
        </p:nvSpPr>
        <p:spPr>
          <a:xfrm>
            <a:off x="918454" y="1827484"/>
            <a:ext cx="5740250" cy="1941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function void initialize(addr_handle_t base) {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regs.set_handle(base);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(ch[i]) {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ch[i].initialize(i,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make_handle_from_handle(base,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regs.get_offset_of_instance_array("ch", i)));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92" dirty="0"/>
          </a:p>
          <a:p>
            <a:pPr algn="l" indent="0" marL="0">
              <a:lnSpc>
                <a:spcPts val="1893"/>
              </a:lnSpc>
              <a:buNone/>
            </a:pPr>
            <a:r>
              <a:rPr lang="en-US" sz="1092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2" dirty="0"/>
          </a:p>
        </p:txBody>
      </p:sp>
      <p:sp>
        <p:nvSpPr>
          <p:cNvPr id="18" name="address_binding line 16"/>
          <p:cNvSpPr/>
          <p:nvPr/>
        </p:nvSpPr>
        <p:spPr>
          <a:xfrm>
            <a:off x="7760010" y="2204695"/>
            <a:ext cx="610193" cy="0"/>
          </a:xfrm>
          <a:prstGeom prst="line">
            <a:avLst/>
          </a:prstGeom>
          <a:noFill/>
          <a:ln w="18491">
            <a:solidFill>
              <a:srgbClr val="9C4221"/>
            </a:solidFill>
            <a:prstDash val="solid"/>
            <a:tailEnd type="triangle"/>
          </a:ln>
        </p:spPr>
      </p:sp>
      <p:sp>
        <p:nvSpPr>
          <p:cNvPr id="19" name="address_binding line 17"/>
          <p:cNvSpPr/>
          <p:nvPr/>
        </p:nvSpPr>
        <p:spPr>
          <a:xfrm>
            <a:off x="7760010" y="3175456"/>
            <a:ext cx="610193" cy="138680"/>
          </a:xfrm>
          <a:prstGeom prst="line">
            <a:avLst/>
          </a:prstGeom>
          <a:noFill/>
          <a:ln w="18491">
            <a:solidFill>
              <a:srgbClr val="9C4221"/>
            </a:solidFill>
            <a:prstDash val="solid"/>
            <a:tailEnd type="triangle"/>
          </a:ln>
        </p:spPr>
      </p:sp>
      <p:sp>
        <p:nvSpPr>
          <p:cNvPr id="20" name="address_binding line 18"/>
          <p:cNvSpPr/>
          <p:nvPr/>
        </p:nvSpPr>
        <p:spPr>
          <a:xfrm>
            <a:off x="7760010" y="3267909"/>
            <a:ext cx="610193" cy="1340575"/>
          </a:xfrm>
          <a:prstGeom prst="line">
            <a:avLst/>
          </a:prstGeom>
          <a:noFill/>
          <a:ln w="18491">
            <a:solidFill>
              <a:srgbClr val="9C4221"/>
            </a:solidFill>
            <a:prstDash val="solid"/>
            <a:tailEnd type="triangle"/>
          </a:ln>
        </p:spPr>
      </p:sp>
      <p:sp>
        <p:nvSpPr>
          <p:cNvPr id="21" name="address_binding box 19"/>
          <p:cNvSpPr/>
          <p:nvPr/>
        </p:nvSpPr>
        <p:spPr>
          <a:xfrm>
            <a:off x="733547" y="4238671"/>
            <a:ext cx="7026463" cy="12943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8491">
            <a:solidFill>
              <a:srgbClr val="718096"/>
            </a:solidFill>
            <a:prstDash val="solid"/>
          </a:ln>
        </p:spPr>
        <p:txBody>
          <a:bodyPr wrap="square" lIns="120189" tIns="42529" rIns="73963" bIns="36981" rtlCol="0" anchor="t"/>
          <a:lstStyle/>
          <a:p>
            <a:pPr algn="l" indent="0" marL="0">
              <a:lnSpc>
                <a:spcPts val="2038"/>
              </a:lnSpc>
              <a:buNone/>
            </a:pPr>
            <a:r>
              <a:rPr lang="en-US" sz="1238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per-channel components?</a:t>
            </a:r>
            <a:endParaRPr lang="en-US" sz="1238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channel binds its own bank → operations are index-free</a:t>
            </a:r>
            <a:endParaRPr lang="en-US" sz="1238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offsets come from the generated group → stated once, in the RDL</a:t>
            </a:r>
            <a:endParaRPr lang="en-US" sz="1238" dirty="0"/>
          </a:p>
          <a:p>
            <a:pPr algn="l" indent="0" marL="0">
              <a:lnSpc>
                <a:spcPts val="203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pssc folds the offset to a constant: base + 0x100 + 0x100*i</a:t>
            </a:r>
            <a:endParaRPr lang="en-US" sz="12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programming sequence (</a:t>
            </a:r>
            <a:r>
              <a:rPr lang="en-US" sz="2750" b="1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pss/timer_ch_c.pss</a:t>
            </a:r>
            <a:r>
              <a:rPr lang="en-US" sz="3200" b="1" dirty="0">
                <a:solidFill>
                  <a:schemeClr val="tx2"/>
                </a:solidFill>
              </a:rPr>
              <a:t>)</a:t>
            </a:r>
            <a:endParaRPr lang="en-US" sz="3200" dirty="0"/>
          </a:p>
        </p:txBody>
      </p:sp>
      <p:sp>
        <p:nvSpPr>
          <p:cNvPr id="3" name="timer_ch_c card"/>
          <p:cNvSpPr/>
          <p:nvPr/>
        </p:nvSpPr>
        <p:spPr>
          <a:xfrm>
            <a:off x="548640" y="1143000"/>
            <a:ext cx="11094415" cy="5441569"/>
          </a:xfrm>
          <a:prstGeom prst="roundRect">
            <a:avLst>
              <a:gd name="adj" fmla="val 100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imer_ch_c"/>
          <p:cNvSpPr txBox="1"/>
          <p:nvPr/>
        </p:nvSpPr>
        <p:spPr>
          <a:xfrm>
            <a:off x="685800" y="1252728"/>
            <a:ext cx="10820095" cy="522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timer_ch_c {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           id;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timer_ch_regs_c  regs;      // this channel's register bank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solve function void initialize(int i, addr_handle_t bank) {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 = i;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regs.set_handle(bank);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void configure(timer_cfg_s cfg) {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timer_ch_regs__ctrl_s ctrl;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timer_ch_regs__load_s load;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load.value = cfg.ticks;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regs.load.write(load);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ctrl.en = 0;  ctrl.irq_en = cfg.irq_en;            // build the value,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ctrl.mode = cfg.periodic;  ctrl.prescale = cfg.prescale;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regs.ctrl.write(ctrl);                              // then write it once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void start() {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regs.status.write_val(1);         // DONE is write-1-to-clear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regs.ctrl.write_field("en", 1);   // read-modify-write of one field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function bool is_done() {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timer_ch_regs__status_s sts = regs.status.read();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sts.done == 1;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ts val="1403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Register-operation details</a:t>
            </a:r>
            <a:endParaRPr lang="en-US" sz="3200" dirty="0"/>
          </a:p>
        </p:txBody>
      </p:sp>
      <p:sp>
        <p:nvSpPr>
          <p:cNvPr id="3" name="rmw text 1"/>
          <p:cNvSpPr txBox="1"/>
          <p:nvPr/>
        </p:nvSpPr>
        <p:spPr>
          <a:xfrm>
            <a:off x="826000" y="1416991"/>
            <a:ext cx="2374944" cy="24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7"/>
              </a:lnSpc>
              <a:buNone/>
            </a:pPr>
            <a:r>
              <a:rPr lang="en-US" sz="1456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reaches the bus</a:t>
            </a:r>
            <a:endParaRPr lang="en-US" sz="1456" dirty="0"/>
          </a:p>
        </p:txBody>
      </p:sp>
      <p:sp>
        <p:nvSpPr>
          <p:cNvPr id="4" name="rmw text 2"/>
          <p:cNvSpPr txBox="1"/>
          <p:nvPr/>
        </p:nvSpPr>
        <p:spPr>
          <a:xfrm>
            <a:off x="826000" y="1988723"/>
            <a:ext cx="1844779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regs.load.write(v)</a:t>
            </a:r>
            <a:endParaRPr lang="en-US" sz="1165" dirty="0"/>
          </a:p>
        </p:txBody>
      </p:sp>
      <p:sp>
        <p:nvSpPr>
          <p:cNvPr id="5" name="rmw shape 3"/>
          <p:cNvSpPr/>
          <p:nvPr/>
        </p:nvSpPr>
        <p:spPr>
          <a:xfrm>
            <a:off x="4893953" y="1908844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</p:sp>
      <p:sp>
        <p:nvSpPr>
          <p:cNvPr id="6" name="rmw text 4"/>
          <p:cNvSpPr txBox="1"/>
          <p:nvPr/>
        </p:nvSpPr>
        <p:spPr>
          <a:xfrm>
            <a:off x="5004897" y="1997969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165" dirty="0"/>
          </a:p>
        </p:txBody>
      </p:sp>
      <p:sp>
        <p:nvSpPr>
          <p:cNvPr id="7" name="rmw text 5"/>
          <p:cNvSpPr txBox="1"/>
          <p:nvPr/>
        </p:nvSpPr>
        <p:spPr>
          <a:xfrm>
            <a:off x="5208294" y="2015720"/>
            <a:ext cx="75131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= v</a:t>
            </a:r>
            <a:endParaRPr lang="en-US" sz="1019" dirty="0"/>
          </a:p>
        </p:txBody>
      </p:sp>
      <p:sp>
        <p:nvSpPr>
          <p:cNvPr id="8" name="rmw text 6"/>
          <p:cNvSpPr txBox="1"/>
          <p:nvPr/>
        </p:nvSpPr>
        <p:spPr>
          <a:xfrm>
            <a:off x="9239265" y="2006474"/>
            <a:ext cx="2085010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register, one write</a:t>
            </a:r>
            <a:endParaRPr lang="en-US" sz="1019" dirty="0"/>
          </a:p>
        </p:txBody>
      </p:sp>
      <p:sp>
        <p:nvSpPr>
          <p:cNvPr id="9" name="rmw text 7"/>
          <p:cNvSpPr txBox="1"/>
          <p:nvPr/>
        </p:nvSpPr>
        <p:spPr>
          <a:xfrm>
            <a:off x="826000" y="2654388"/>
            <a:ext cx="2540621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regs.load.write_val(0x19)</a:t>
            </a:r>
            <a:endParaRPr lang="en-US" sz="1165" dirty="0"/>
          </a:p>
        </p:txBody>
      </p:sp>
      <p:sp>
        <p:nvSpPr>
          <p:cNvPr id="10" name="rmw shape 8"/>
          <p:cNvSpPr/>
          <p:nvPr/>
        </p:nvSpPr>
        <p:spPr>
          <a:xfrm>
            <a:off x="4893953" y="2574508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</p:sp>
      <p:sp>
        <p:nvSpPr>
          <p:cNvPr id="11" name="rmw text 9"/>
          <p:cNvSpPr txBox="1"/>
          <p:nvPr/>
        </p:nvSpPr>
        <p:spPr>
          <a:xfrm>
            <a:off x="5004897" y="2663634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165" dirty="0"/>
          </a:p>
        </p:txBody>
      </p:sp>
      <p:sp>
        <p:nvSpPr>
          <p:cNvPr id="12" name="rmw text 10"/>
          <p:cNvSpPr txBox="1"/>
          <p:nvPr/>
        </p:nvSpPr>
        <p:spPr>
          <a:xfrm>
            <a:off x="5208294" y="2681385"/>
            <a:ext cx="101225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= 0x19</a:t>
            </a:r>
            <a:endParaRPr lang="en-US" sz="1019" dirty="0"/>
          </a:p>
        </p:txBody>
      </p:sp>
      <p:sp>
        <p:nvSpPr>
          <p:cNvPr id="13" name="rmw text 11"/>
          <p:cNvSpPr txBox="1"/>
          <p:nvPr/>
        </p:nvSpPr>
        <p:spPr>
          <a:xfrm>
            <a:off x="9239265" y="2672139"/>
            <a:ext cx="167910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value, one write</a:t>
            </a:r>
            <a:endParaRPr lang="en-US" sz="1019" dirty="0"/>
          </a:p>
        </p:txBody>
      </p:sp>
      <p:sp>
        <p:nvSpPr>
          <p:cNvPr id="14" name="rmw text 12"/>
          <p:cNvSpPr txBox="1"/>
          <p:nvPr/>
        </p:nvSpPr>
        <p:spPr>
          <a:xfrm>
            <a:off x="826000" y="3320053"/>
            <a:ext cx="1844779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regs.status.read()</a:t>
            </a:r>
            <a:endParaRPr lang="en-US" sz="1165" dirty="0"/>
          </a:p>
        </p:txBody>
      </p:sp>
      <p:sp>
        <p:nvSpPr>
          <p:cNvPr id="15" name="rmw shape 13"/>
          <p:cNvSpPr/>
          <p:nvPr/>
        </p:nvSpPr>
        <p:spPr>
          <a:xfrm>
            <a:off x="4893953" y="3240173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</p:sp>
      <p:sp>
        <p:nvSpPr>
          <p:cNvPr id="16" name="rmw text 14"/>
          <p:cNvSpPr txBox="1"/>
          <p:nvPr/>
        </p:nvSpPr>
        <p:spPr>
          <a:xfrm>
            <a:off x="5004897" y="3329298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65" dirty="0"/>
          </a:p>
        </p:txBody>
      </p:sp>
      <p:sp>
        <p:nvSpPr>
          <p:cNvPr id="17" name="rmw text 15"/>
          <p:cNvSpPr txBox="1"/>
          <p:nvPr/>
        </p:nvSpPr>
        <p:spPr>
          <a:xfrm>
            <a:off x="5208294" y="3347050"/>
            <a:ext cx="57735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19" dirty="0"/>
          </a:p>
        </p:txBody>
      </p:sp>
      <p:sp>
        <p:nvSpPr>
          <p:cNvPr id="18" name="rmw text 16"/>
          <p:cNvSpPr txBox="1"/>
          <p:nvPr/>
        </p:nvSpPr>
        <p:spPr>
          <a:xfrm>
            <a:off x="9239265" y="3337804"/>
            <a:ext cx="1435558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 → struct</a:t>
            </a:r>
            <a:endParaRPr lang="en-US" sz="1019" dirty="0"/>
          </a:p>
        </p:txBody>
      </p:sp>
      <p:sp>
        <p:nvSpPr>
          <p:cNvPr id="19" name="rmw text 17"/>
          <p:cNvSpPr txBox="1"/>
          <p:nvPr/>
        </p:nvSpPr>
        <p:spPr>
          <a:xfrm>
            <a:off x="826000" y="3985718"/>
            <a:ext cx="3037651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regs.ctrl.write_field("en", 1)</a:t>
            </a:r>
            <a:endParaRPr lang="en-US" sz="1165" dirty="0"/>
          </a:p>
        </p:txBody>
      </p:sp>
      <p:sp>
        <p:nvSpPr>
          <p:cNvPr id="20" name="rmw shape 18"/>
          <p:cNvSpPr/>
          <p:nvPr/>
        </p:nvSpPr>
        <p:spPr>
          <a:xfrm>
            <a:off x="4893953" y="3905838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</p:sp>
      <p:sp>
        <p:nvSpPr>
          <p:cNvPr id="21" name="rmw text 19"/>
          <p:cNvSpPr txBox="1"/>
          <p:nvPr/>
        </p:nvSpPr>
        <p:spPr>
          <a:xfrm>
            <a:off x="5004897" y="3994963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65" dirty="0"/>
          </a:p>
        </p:txBody>
      </p:sp>
      <p:sp>
        <p:nvSpPr>
          <p:cNvPr id="22" name="rmw text 20"/>
          <p:cNvSpPr txBox="1"/>
          <p:nvPr/>
        </p:nvSpPr>
        <p:spPr>
          <a:xfrm>
            <a:off x="5208294" y="4012714"/>
            <a:ext cx="40339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endParaRPr lang="en-US" sz="1019" dirty="0"/>
          </a:p>
        </p:txBody>
      </p:sp>
      <p:sp>
        <p:nvSpPr>
          <p:cNvPr id="23" name="rmw line 21"/>
          <p:cNvSpPr/>
          <p:nvPr/>
        </p:nvSpPr>
        <p:spPr>
          <a:xfrm>
            <a:off x="6743022" y="4081500"/>
            <a:ext cx="240379" cy="0"/>
          </a:xfrm>
          <a:prstGeom prst="line">
            <a:avLst/>
          </a:prstGeom>
          <a:noFill/>
          <a:ln w="1849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24" name="rmw shape 22"/>
          <p:cNvSpPr/>
          <p:nvPr/>
        </p:nvSpPr>
        <p:spPr>
          <a:xfrm>
            <a:off x="7020382" y="3905838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</p:sp>
      <p:sp>
        <p:nvSpPr>
          <p:cNvPr id="25" name="rmw text 23"/>
          <p:cNvSpPr txBox="1"/>
          <p:nvPr/>
        </p:nvSpPr>
        <p:spPr>
          <a:xfrm>
            <a:off x="7131326" y="3994963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165" dirty="0"/>
          </a:p>
        </p:txBody>
      </p:sp>
      <p:sp>
        <p:nvSpPr>
          <p:cNvPr id="26" name="rmw text 24"/>
          <p:cNvSpPr txBox="1"/>
          <p:nvPr/>
        </p:nvSpPr>
        <p:spPr>
          <a:xfrm>
            <a:off x="7334724" y="4012714"/>
            <a:ext cx="838294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| en</a:t>
            </a:r>
            <a:endParaRPr lang="en-US" sz="1019" dirty="0"/>
          </a:p>
        </p:txBody>
      </p:sp>
      <p:sp>
        <p:nvSpPr>
          <p:cNvPr id="27" name="rmw text 25"/>
          <p:cNvSpPr txBox="1"/>
          <p:nvPr/>
        </p:nvSpPr>
        <p:spPr>
          <a:xfrm>
            <a:off x="9239265" y="4003469"/>
            <a:ext cx="2653281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read-modify-write (LRM §21.14.1)</a:t>
            </a:r>
            <a:endParaRPr lang="en-US" sz="1019" dirty="0"/>
          </a:p>
        </p:txBody>
      </p:sp>
      <p:sp>
        <p:nvSpPr>
          <p:cNvPr id="28" name="rmw text 26"/>
          <p:cNvSpPr txBox="1"/>
          <p:nvPr/>
        </p:nvSpPr>
        <p:spPr>
          <a:xfrm>
            <a:off x="826000" y="4651383"/>
            <a:ext cx="2838839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regs.ctrl.write_masked(m, v)</a:t>
            </a:r>
            <a:endParaRPr lang="en-US" sz="1165" dirty="0"/>
          </a:p>
        </p:txBody>
      </p:sp>
      <p:sp>
        <p:nvSpPr>
          <p:cNvPr id="29" name="rmw shape 27"/>
          <p:cNvSpPr/>
          <p:nvPr/>
        </p:nvSpPr>
        <p:spPr>
          <a:xfrm>
            <a:off x="4893953" y="4571503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E6F6EC"/>
          </a:solidFill>
          <a:ln w="18491">
            <a:solidFill>
              <a:srgbClr val="2F855A"/>
            </a:solidFill>
            <a:prstDash val="solid"/>
          </a:ln>
        </p:spPr>
      </p:sp>
      <p:sp>
        <p:nvSpPr>
          <p:cNvPr id="30" name="rmw text 28"/>
          <p:cNvSpPr txBox="1"/>
          <p:nvPr/>
        </p:nvSpPr>
        <p:spPr>
          <a:xfrm>
            <a:off x="5004897" y="4660628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65" dirty="0"/>
          </a:p>
        </p:txBody>
      </p:sp>
      <p:sp>
        <p:nvSpPr>
          <p:cNvPr id="31" name="rmw text 29"/>
          <p:cNvSpPr txBox="1"/>
          <p:nvPr/>
        </p:nvSpPr>
        <p:spPr>
          <a:xfrm>
            <a:off x="5208294" y="4678379"/>
            <a:ext cx="403393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</a:t>
            </a:r>
            <a:endParaRPr lang="en-US" sz="1019" dirty="0"/>
          </a:p>
        </p:txBody>
      </p:sp>
      <p:sp>
        <p:nvSpPr>
          <p:cNvPr id="32" name="rmw line 30"/>
          <p:cNvSpPr/>
          <p:nvPr/>
        </p:nvSpPr>
        <p:spPr>
          <a:xfrm>
            <a:off x="6743022" y="4747165"/>
            <a:ext cx="240379" cy="0"/>
          </a:xfrm>
          <a:prstGeom prst="line">
            <a:avLst/>
          </a:prstGeom>
          <a:noFill/>
          <a:ln w="18491">
            <a:solidFill>
              <a:srgbClr val="2D3748"/>
            </a:solidFill>
            <a:prstDash val="solid"/>
            <a:tailEnd type="triangle"/>
          </a:ln>
        </p:spPr>
      </p:sp>
      <p:sp>
        <p:nvSpPr>
          <p:cNvPr id="33" name="rmw shape 31"/>
          <p:cNvSpPr/>
          <p:nvPr/>
        </p:nvSpPr>
        <p:spPr>
          <a:xfrm>
            <a:off x="7020382" y="4571503"/>
            <a:ext cx="1849069" cy="351323"/>
          </a:xfrm>
          <a:prstGeom prst="roundRect">
            <a:avLst>
              <a:gd name="adj" fmla="val 15789"/>
            </a:avLst>
          </a:prstGeom>
          <a:solidFill>
            <a:srgbClr val="F3EFFF"/>
          </a:solidFill>
          <a:ln w="18491">
            <a:solidFill>
              <a:srgbClr val="6B46C1"/>
            </a:solidFill>
            <a:prstDash val="solid"/>
          </a:ln>
        </p:spPr>
      </p:sp>
      <p:sp>
        <p:nvSpPr>
          <p:cNvPr id="34" name="rmw text 32"/>
          <p:cNvSpPr txBox="1"/>
          <p:nvPr/>
        </p:nvSpPr>
        <p:spPr>
          <a:xfrm>
            <a:off x="7131326" y="4660628"/>
            <a:ext cx="154878" cy="196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8"/>
              </a:lnSpc>
              <a:buNone/>
            </a:pPr>
            <a:r>
              <a:rPr lang="en-US" sz="1165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165" dirty="0"/>
          </a:p>
        </p:txBody>
      </p:sp>
      <p:sp>
        <p:nvSpPr>
          <p:cNvPr id="35" name="rmw text 33"/>
          <p:cNvSpPr txBox="1"/>
          <p:nvPr/>
        </p:nvSpPr>
        <p:spPr>
          <a:xfrm>
            <a:off x="7334724" y="4678379"/>
            <a:ext cx="1273195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(cur&amp;~m)|(v&amp;m)</a:t>
            </a:r>
            <a:endParaRPr lang="en-US" sz="1019" dirty="0"/>
          </a:p>
        </p:txBody>
      </p:sp>
      <p:sp>
        <p:nvSpPr>
          <p:cNvPr id="36" name="rmw text 34"/>
          <p:cNvSpPr txBox="1"/>
          <p:nvPr/>
        </p:nvSpPr>
        <p:spPr>
          <a:xfrm>
            <a:off x="9239265" y="4669134"/>
            <a:ext cx="1435558" cy="17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1019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read-modify-write</a:t>
            </a:r>
            <a:endParaRPr lang="en-US" sz="1019" dirty="0"/>
          </a:p>
        </p:txBody>
      </p:sp>
      <p:sp>
        <p:nvSpPr>
          <p:cNvPr id="37" name="rmw box 35"/>
          <p:cNvSpPr/>
          <p:nvPr/>
        </p:nvSpPr>
        <p:spPr>
          <a:xfrm>
            <a:off x="826000" y="5116979"/>
            <a:ext cx="10539694" cy="462267"/>
          </a:xfrm>
          <a:prstGeom prst="roundRect">
            <a:avLst>
              <a:gd name="adj" fmla="val 20000"/>
            </a:avLst>
          </a:prstGeom>
          <a:solidFill>
            <a:srgbClr val="FFF5F5"/>
          </a:solidFill>
          <a:ln w="18491">
            <a:solidFill>
              <a:srgbClr val="C53030"/>
            </a:solidFill>
            <a:prstDash val="solid"/>
          </a:ln>
        </p:spPr>
        <p:txBody>
          <a:bodyPr wrap="square" lIns="120189" tIns="94303" rIns="73963" bIns="36981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rmw text 36"/>
          <p:cNvSpPr txBox="1"/>
          <p:nvPr/>
        </p:nvSpPr>
        <p:spPr>
          <a:xfrm>
            <a:off x="1010907" y="5270451"/>
            <a:ext cx="8492553" cy="18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1092" b="1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 write still READS the register. If a read has side effects (clear-on-read), that matters.</a:t>
            </a:r>
            <a:endParaRPr lang="en-US" sz="1092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Register-operation pitfalls</a:t>
            </a:r>
            <a:endParaRPr lang="en-US" sz="3200" dirty="0"/>
          </a:p>
        </p:txBody>
      </p:sp>
      <p:sp>
        <p:nvSpPr>
          <p:cNvPr id="3" name="pitfall 0"/>
          <p:cNvSpPr/>
          <p:nvPr/>
        </p:nvSpPr>
        <p:spPr>
          <a:xfrm>
            <a:off x="548640" y="1188720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98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3030"/>
                </a:solidFill>
              </a:rPr>
              <a:t>Field writes read first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261872"/>
            <a:ext cx="7802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write_field</a:t>
            </a:r>
            <a:r>
              <a:rPr lang="en-US" sz="1500" dirty="0">
                <a:solidFill>
                  <a:schemeClr val="tx1"/>
                </a:solidFill>
              </a:rPr>
              <a:t>/</a:t>
            </a: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write_masked</a:t>
            </a:r>
            <a:r>
              <a:rPr lang="en-US" sz="1500" dirty="0">
                <a:solidFill>
                  <a:schemeClr val="tx1"/>
                </a:solidFill>
              </a:rPr>
              <a:t> are a read-modify-write (PSS 3.1 §21.14.1). On a register with clear-on-read bits, that read </a:t>
            </a:r>
            <a:r>
              <a:rPr lang="en-US" sz="1500" b="1" dirty="0">
                <a:solidFill>
                  <a:schemeClr val="tx1"/>
                </a:solidFill>
              </a:rPr>
              <a:t>is</a:t>
            </a:r>
            <a:r>
              <a:rPr lang="en-US" sz="1500" dirty="0">
                <a:solidFill>
                  <a:schemeClr val="tx1"/>
                </a:solidFill>
              </a:rPr>
              <a:t> a side effect.</a:t>
            </a:r>
            <a:endParaRPr lang="en-US" sz="1500" dirty="0"/>
          </a:p>
        </p:txBody>
      </p:sp>
      <p:sp>
        <p:nvSpPr>
          <p:cNvPr id="6" name="pitfall 1"/>
          <p:cNvSpPr/>
          <p:nvPr/>
        </p:nvSpPr>
        <p:spPr>
          <a:xfrm>
            <a:off x="548640" y="2167128"/>
            <a:ext cx="11094415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768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W1C registers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240280"/>
            <a:ext cx="7802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the clear value with </a:t>
            </a: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write_val</a:t>
            </a:r>
            <a:r>
              <a:rPr lang="en-US" sz="1500" dirty="0">
                <a:solidFill>
                  <a:schemeClr val="tx1"/>
                </a:solidFill>
              </a:rPr>
              <a:t>. Don't RMW a W1C register, or you'll clear bits you didn't mean to.</a:t>
            </a:r>
            <a:endParaRPr lang="en-US" sz="1500" dirty="0"/>
          </a:p>
        </p:txBody>
      </p:sp>
      <p:sp>
        <p:nvSpPr>
          <p:cNvPr id="9" name="pitfall 2"/>
          <p:cNvSpPr/>
          <p:nvPr/>
        </p:nvSpPr>
        <p:spPr>
          <a:xfrm>
            <a:off x="548640" y="3145536"/>
            <a:ext cx="11094415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552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Whole vs. field writes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218688"/>
            <a:ext cx="7802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struct and </a:t>
            </a: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write()</a:t>
            </a:r>
            <a:r>
              <a:rPr lang="en-US" sz="1500" dirty="0">
                <a:solidFill>
                  <a:schemeClr val="tx1"/>
                </a:solidFill>
              </a:rPr>
              <a:t> once when configuring. Use </a:t>
            </a: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write_field()</a:t>
            </a:r>
            <a:r>
              <a:rPr lang="en-US" sz="1500" dirty="0">
                <a:solidFill>
                  <a:schemeClr val="tx1"/>
                </a:solidFill>
              </a:rPr>
              <a:t> to flip one bit of live state.</a:t>
            </a:r>
            <a:endParaRPr lang="en-US" sz="1500" dirty="0"/>
          </a:p>
        </p:txBody>
      </p:sp>
      <p:sp>
        <p:nvSpPr>
          <p:cNvPr id="12" name="pitfall 3"/>
          <p:cNvSpPr/>
          <p:nvPr/>
        </p:nvSpPr>
        <p:spPr>
          <a:xfrm>
            <a:off x="548640" y="4123944"/>
            <a:ext cx="11094415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33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Reserved bits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197096"/>
            <a:ext cx="7802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</a:t>
            </a: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--pad-tail</a:t>
            </a:r>
            <a:r>
              <a:rPr lang="en-US" sz="1500" dirty="0">
                <a:solidFill>
                  <a:schemeClr val="tx1"/>
                </a:solidFill>
              </a:rPr>
              <a:t> so every struct spans the full register width. Otherwise C gets a </a:t>
            </a:r>
            <a:r>
              <a:rPr lang="en-US" sz="130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raw</a:t>
            </a:r>
            <a:r>
              <a:rPr lang="en-US" sz="1500" dirty="0">
                <a:solidFill>
                  <a:schemeClr val="tx1"/>
                </a:solidFill>
              </a:rPr>
              <a:t> for a 32-bit register.</a:t>
            </a:r>
            <a:endParaRPr lang="en-US" sz="1500" dirty="0"/>
          </a:p>
        </p:txBody>
      </p:sp>
      <p:sp>
        <p:nvSpPr>
          <p:cNvPr id="15" name="pitfall 4"/>
          <p:cNvSpPr/>
          <p:nvPr/>
        </p:nvSpPr>
        <p:spPr>
          <a:xfrm>
            <a:off x="548640" y="5102352"/>
            <a:ext cx="11094415" cy="841248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Device semantics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5175504"/>
            <a:ext cx="7802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W1C, RC and sticky bits aren't in the PSS type. Document them in the operation, where the next reader will look.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it generates</a:t>
            </a:r>
            <a:endParaRPr lang="en-US" sz="3200" dirty="0"/>
          </a:p>
        </p:txBody>
      </p:sp>
      <p:sp>
        <p:nvSpPr>
          <p:cNvPr id="3" name="sv regs card"/>
          <p:cNvSpPr/>
          <p:nvPr/>
        </p:nvSpPr>
        <p:spPr>
          <a:xfrm>
            <a:off x="548640" y="1280160"/>
            <a:ext cx="5364328" cy="4389120"/>
          </a:xfrm>
          <a:prstGeom prst="roundRect">
            <a:avLst>
              <a:gd name="adj" fmla="val 1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v regs"/>
          <p:cNvSpPr txBox="1"/>
          <p:nvPr/>
        </p:nvSpPr>
        <p:spPr>
          <a:xfrm>
            <a:off x="685800" y="1389888"/>
            <a:ext cx="5090008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SV: reg_c parameterized by the packed struct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timer_ch_regs_c;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reg_c #(timer_ch_regs__ctrl_s)   ctrl;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reg_c #(timer_ch_regs__load_s)   load;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reg_c #(timer_ch_regs__status_s) status;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reg_c #(timer_ch_regs__count_s,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READONLY)                count;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task start();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regs.status.write_val(1);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regs.ctrl.write_field(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TIMER_CH_REGS__CTRL_en, 1);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endtask</a:t>
            </a:r>
            <a:endParaRPr lang="en-US" sz="1300" dirty="0"/>
          </a:p>
        </p:txBody>
      </p:sp>
      <p:sp>
        <p:nvSpPr>
          <p:cNvPr id="5" name="c regs card"/>
          <p:cNvSpPr/>
          <p:nvPr/>
        </p:nvSpPr>
        <p:spPr>
          <a:xfrm>
            <a:off x="6278728" y="1280160"/>
            <a:ext cx="5364328" cy="4389120"/>
          </a:xfrm>
          <a:prstGeom prst="roundRect">
            <a:avLst>
              <a:gd name="adj" fmla="val 12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c regs"/>
          <p:cNvSpPr txBox="1"/>
          <p:nvPr/>
        </p:nvSpPr>
        <p:spPr>
          <a:xfrm>
            <a:off x="6415888" y="1389888"/>
            <a:ext cx="5090008" cy="4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C: bitfield unions, private header */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union { uint32_t raw; struct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en       :  1;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irq_en   :  1;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mode     :  1;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rsvd_3   :  1;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prescale :  4;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rsvd_8   : 24;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} timer_ch_regs__ctrl_s;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timer_ch_start(timer_ch_c *_self) {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timer_ch_regs_status_write_val(_self, 1);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timer_ch_regs_ctrl_write_masked(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_self, 1, 1);</a:t>
            </a:r>
            <a:endParaRPr lang="en-US" sz="1300" dirty="0"/>
          </a:p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2: run it</a:t>
            </a:r>
            <a:endParaRPr lang="en-US" sz="3200" dirty="0"/>
          </a:p>
        </p:txBody>
      </p:sp>
      <p:sp>
        <p:nvSpPr>
          <p:cNvPr id="3" name="run cmds card"/>
          <p:cNvSpPr/>
          <p:nvPr/>
        </p:nvSpPr>
        <p:spPr>
          <a:xfrm>
            <a:off x="548640" y="1188720"/>
            <a:ext cx="11094415" cy="925068"/>
          </a:xfrm>
          <a:prstGeom prst="roundRect">
            <a:avLst>
              <a:gd name="adj" fmla="val 59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run cmds"/>
          <p:cNvSpPr txBox="1"/>
          <p:nvPr/>
        </p:nvSpPr>
        <p:spPr>
          <a:xfrm>
            <a:off x="685800" y="1298448"/>
            <a:ext cx="10820095" cy="70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labs/lab2</a:t>
            </a:r>
            <a:endParaRPr lang="en-US" sz="1400" dirty="0"/>
          </a:p>
          <a:p>
            <a:pPr indent="0" marL="0">
              <a:lnSpc>
                <a:spcPts val="1708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regs     # SystemRDL -&gt; pss/timer_regs_pkg.pss (checked in; needs peakrdl-pss)</a:t>
            </a:r>
            <a:endParaRPr lang="en-US" sz="1400" dirty="0"/>
          </a:p>
          <a:p>
            <a:pPr indent="0" marL="0">
              <a:lnSpc>
                <a:spcPts val="1708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</a:t>
            </a:r>
            <a:endParaRPr lang="en-US" sz="1400" dirty="0"/>
          </a:p>
        </p:txBody>
      </p:sp>
      <p:sp>
        <p:nvSpPr>
          <p:cNvPr id="5" name="lab2_trace text 1"/>
          <p:cNvSpPr txBox="1"/>
          <p:nvPr/>
        </p:nvSpPr>
        <p:spPr>
          <a:xfrm>
            <a:off x="837303" y="2432468"/>
            <a:ext cx="6096192" cy="217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308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one_shot(0, 25) — identical in C, SystemVerilog and Python</a:t>
            </a:r>
            <a:endParaRPr lang="en-US" sz="1308" dirty="0"/>
          </a:p>
        </p:txBody>
      </p:sp>
      <p:sp>
        <p:nvSpPr>
          <p:cNvPr id="6" name="lab2_trace shape 2"/>
          <p:cNvSpPr/>
          <p:nvPr/>
        </p:nvSpPr>
        <p:spPr>
          <a:xfrm>
            <a:off x="837303" y="2757944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F3EFFF"/>
          </a:solidFill>
          <a:ln w="13838">
            <a:solidFill>
              <a:srgbClr val="6B46C1"/>
            </a:solidFill>
            <a:prstDash val="solid"/>
          </a:ln>
        </p:spPr>
      </p:sp>
      <p:sp>
        <p:nvSpPr>
          <p:cNvPr id="7" name="lab2_trace text 3"/>
          <p:cNvSpPr txBox="1"/>
          <p:nvPr/>
        </p:nvSpPr>
        <p:spPr>
          <a:xfrm>
            <a:off x="966461" y="2828058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090" dirty="0"/>
          </a:p>
        </p:txBody>
      </p:sp>
      <p:sp>
        <p:nvSpPr>
          <p:cNvPr id="8" name="lab2_trace text 4"/>
          <p:cNvSpPr txBox="1"/>
          <p:nvPr/>
        </p:nvSpPr>
        <p:spPr>
          <a:xfrm>
            <a:off x="1206324" y="2828058"/>
            <a:ext cx="1636238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ch0.LOAD   = 0x19</a:t>
            </a:r>
            <a:endParaRPr lang="en-US" sz="1090" dirty="0"/>
          </a:p>
        </p:txBody>
      </p:sp>
      <p:sp>
        <p:nvSpPr>
          <p:cNvPr id="9" name="lab2_trace text 5"/>
          <p:cNvSpPr txBox="1"/>
          <p:nvPr/>
        </p:nvSpPr>
        <p:spPr>
          <a:xfrm>
            <a:off x="5265551" y="2828058"/>
            <a:ext cx="2051607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configure: load.write()</a:t>
            </a:r>
            <a:endParaRPr lang="en-US" sz="1090" dirty="0"/>
          </a:p>
        </p:txBody>
      </p:sp>
      <p:sp>
        <p:nvSpPr>
          <p:cNvPr id="10" name="lab2_trace shape 6"/>
          <p:cNvSpPr/>
          <p:nvPr/>
        </p:nvSpPr>
        <p:spPr>
          <a:xfrm>
            <a:off x="837303" y="3126964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F3EFFF"/>
          </a:solidFill>
          <a:ln w="13838">
            <a:solidFill>
              <a:srgbClr val="6B46C1"/>
            </a:solidFill>
            <a:prstDash val="solid"/>
          </a:ln>
        </p:spPr>
      </p:sp>
      <p:sp>
        <p:nvSpPr>
          <p:cNvPr id="11" name="lab2_trace text 7"/>
          <p:cNvSpPr txBox="1"/>
          <p:nvPr/>
        </p:nvSpPr>
        <p:spPr>
          <a:xfrm>
            <a:off x="966461" y="3197078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090" dirty="0"/>
          </a:p>
        </p:txBody>
      </p:sp>
      <p:sp>
        <p:nvSpPr>
          <p:cNvPr id="12" name="lab2_trace text 8"/>
          <p:cNvSpPr txBox="1"/>
          <p:nvPr/>
        </p:nvSpPr>
        <p:spPr>
          <a:xfrm>
            <a:off x="1206324" y="3197078"/>
            <a:ext cx="1636238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ch0.CTRL   = 0x00</a:t>
            </a:r>
            <a:endParaRPr lang="en-US" sz="1090" dirty="0"/>
          </a:p>
        </p:txBody>
      </p:sp>
      <p:sp>
        <p:nvSpPr>
          <p:cNvPr id="13" name="lab2_trace text 9"/>
          <p:cNvSpPr txBox="1"/>
          <p:nvPr/>
        </p:nvSpPr>
        <p:spPr>
          <a:xfrm>
            <a:off x="5265551" y="3197078"/>
            <a:ext cx="2659163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configure: ctrl.write() (EN=0)</a:t>
            </a:r>
            <a:endParaRPr lang="en-US" sz="1090" dirty="0"/>
          </a:p>
        </p:txBody>
      </p:sp>
      <p:sp>
        <p:nvSpPr>
          <p:cNvPr id="14" name="lab2_trace shape 10"/>
          <p:cNvSpPr/>
          <p:nvPr/>
        </p:nvSpPr>
        <p:spPr>
          <a:xfrm>
            <a:off x="837303" y="3495985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F3EFFF"/>
          </a:solidFill>
          <a:ln w="13838">
            <a:solidFill>
              <a:srgbClr val="6B46C1"/>
            </a:solidFill>
            <a:prstDash val="solid"/>
          </a:ln>
        </p:spPr>
      </p:sp>
      <p:sp>
        <p:nvSpPr>
          <p:cNvPr id="15" name="lab2_trace text 11"/>
          <p:cNvSpPr txBox="1"/>
          <p:nvPr/>
        </p:nvSpPr>
        <p:spPr>
          <a:xfrm>
            <a:off x="966461" y="3566099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090" dirty="0"/>
          </a:p>
        </p:txBody>
      </p:sp>
      <p:sp>
        <p:nvSpPr>
          <p:cNvPr id="16" name="lab2_trace text 12"/>
          <p:cNvSpPr txBox="1"/>
          <p:nvPr/>
        </p:nvSpPr>
        <p:spPr>
          <a:xfrm>
            <a:off x="1206324" y="3566099"/>
            <a:ext cx="1636238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ch0.STATUS = 0x01</a:t>
            </a:r>
            <a:endParaRPr lang="en-US" sz="1090" dirty="0"/>
          </a:p>
        </p:txBody>
      </p:sp>
      <p:sp>
        <p:nvSpPr>
          <p:cNvPr id="17" name="lab2_trace text 13"/>
          <p:cNvSpPr txBox="1"/>
          <p:nvPr/>
        </p:nvSpPr>
        <p:spPr>
          <a:xfrm>
            <a:off x="5265551" y="3566099"/>
            <a:ext cx="2051607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clear DONE (W1C)</a:t>
            </a:r>
            <a:endParaRPr lang="en-US" sz="1090" dirty="0"/>
          </a:p>
        </p:txBody>
      </p:sp>
      <p:sp>
        <p:nvSpPr>
          <p:cNvPr id="18" name="lab2_trace shape 14"/>
          <p:cNvSpPr/>
          <p:nvPr/>
        </p:nvSpPr>
        <p:spPr>
          <a:xfrm>
            <a:off x="837303" y="3865006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3838">
            <a:solidFill>
              <a:srgbClr val="2F855A"/>
            </a:solidFill>
            <a:prstDash val="solid"/>
          </a:ln>
        </p:spPr>
      </p:sp>
      <p:sp>
        <p:nvSpPr>
          <p:cNvPr id="19" name="lab2_trace text 15"/>
          <p:cNvSpPr txBox="1"/>
          <p:nvPr/>
        </p:nvSpPr>
        <p:spPr>
          <a:xfrm>
            <a:off x="966461" y="3935120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90" dirty="0"/>
          </a:p>
        </p:txBody>
      </p:sp>
      <p:sp>
        <p:nvSpPr>
          <p:cNvPr id="20" name="lab2_trace text 16"/>
          <p:cNvSpPr txBox="1"/>
          <p:nvPr/>
        </p:nvSpPr>
        <p:spPr>
          <a:xfrm>
            <a:off x="1206324" y="3935120"/>
            <a:ext cx="1729231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ch0.CTRL   -&gt; 0x00</a:t>
            </a:r>
            <a:endParaRPr lang="en-US" sz="1090" dirty="0"/>
          </a:p>
        </p:txBody>
      </p:sp>
      <p:sp>
        <p:nvSpPr>
          <p:cNvPr id="21" name="lab2_trace text 17"/>
          <p:cNvSpPr txBox="1"/>
          <p:nvPr/>
        </p:nvSpPr>
        <p:spPr>
          <a:xfrm>
            <a:off x="5265551" y="3935120"/>
            <a:ext cx="3006337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write_field("en",1) — read…</a:t>
            </a:r>
            <a:endParaRPr lang="en-US" sz="1090" dirty="0"/>
          </a:p>
        </p:txBody>
      </p:sp>
      <p:sp>
        <p:nvSpPr>
          <p:cNvPr id="22" name="lab2_trace shape 18"/>
          <p:cNvSpPr/>
          <p:nvPr/>
        </p:nvSpPr>
        <p:spPr>
          <a:xfrm>
            <a:off x="837303" y="4234026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F3EFFF"/>
          </a:solidFill>
          <a:ln w="13838">
            <a:solidFill>
              <a:srgbClr val="6B46C1"/>
            </a:solidFill>
            <a:prstDash val="solid"/>
          </a:ln>
        </p:spPr>
      </p:sp>
      <p:sp>
        <p:nvSpPr>
          <p:cNvPr id="23" name="lab2_trace text 19"/>
          <p:cNvSpPr txBox="1"/>
          <p:nvPr/>
        </p:nvSpPr>
        <p:spPr>
          <a:xfrm>
            <a:off x="966461" y="4304140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6B4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090" dirty="0"/>
          </a:p>
        </p:txBody>
      </p:sp>
      <p:sp>
        <p:nvSpPr>
          <p:cNvPr id="24" name="lab2_trace text 20"/>
          <p:cNvSpPr txBox="1"/>
          <p:nvPr/>
        </p:nvSpPr>
        <p:spPr>
          <a:xfrm>
            <a:off x="1206324" y="4304140"/>
            <a:ext cx="1636238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ch0.CTRL   = 0x01</a:t>
            </a:r>
            <a:endParaRPr lang="en-US" sz="1090" dirty="0"/>
          </a:p>
        </p:txBody>
      </p:sp>
      <p:sp>
        <p:nvSpPr>
          <p:cNvPr id="25" name="lab2_trace text 21"/>
          <p:cNvSpPr txBox="1"/>
          <p:nvPr/>
        </p:nvSpPr>
        <p:spPr>
          <a:xfrm>
            <a:off x="5265551" y="4304140"/>
            <a:ext cx="1270464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…modify, write</a:t>
            </a:r>
            <a:endParaRPr lang="en-US" sz="1090" dirty="0"/>
          </a:p>
        </p:txBody>
      </p:sp>
      <p:sp>
        <p:nvSpPr>
          <p:cNvPr id="26" name="lab2_trace shape 22"/>
          <p:cNvSpPr/>
          <p:nvPr/>
        </p:nvSpPr>
        <p:spPr>
          <a:xfrm>
            <a:off x="837303" y="4603047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3838">
            <a:solidFill>
              <a:srgbClr val="2F855A"/>
            </a:solidFill>
            <a:prstDash val="solid"/>
          </a:ln>
        </p:spPr>
      </p:sp>
      <p:sp>
        <p:nvSpPr>
          <p:cNvPr id="27" name="lab2_trace text 23"/>
          <p:cNvSpPr txBox="1"/>
          <p:nvPr/>
        </p:nvSpPr>
        <p:spPr>
          <a:xfrm>
            <a:off x="966461" y="4673161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90" dirty="0"/>
          </a:p>
        </p:txBody>
      </p:sp>
      <p:sp>
        <p:nvSpPr>
          <p:cNvPr id="28" name="lab2_trace text 24"/>
          <p:cNvSpPr txBox="1"/>
          <p:nvPr/>
        </p:nvSpPr>
        <p:spPr>
          <a:xfrm>
            <a:off x="1206324" y="4673161"/>
            <a:ext cx="1729231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ch0.STATUS -&gt; 0x02</a:t>
            </a:r>
            <a:endParaRPr lang="en-US" sz="1090" dirty="0"/>
          </a:p>
        </p:txBody>
      </p:sp>
      <p:sp>
        <p:nvSpPr>
          <p:cNvPr id="29" name="lab2_trace text 25"/>
          <p:cNvSpPr txBox="1"/>
          <p:nvPr/>
        </p:nvSpPr>
        <p:spPr>
          <a:xfrm>
            <a:off x="5265551" y="4673161"/>
            <a:ext cx="1357258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wait_done: BUSY</a:t>
            </a:r>
            <a:endParaRPr lang="en-US" sz="1090" dirty="0"/>
          </a:p>
        </p:txBody>
      </p:sp>
      <p:sp>
        <p:nvSpPr>
          <p:cNvPr id="30" name="lab2_trace shape 26"/>
          <p:cNvSpPr/>
          <p:nvPr/>
        </p:nvSpPr>
        <p:spPr>
          <a:xfrm>
            <a:off x="837303" y="4972068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3838">
            <a:solidFill>
              <a:srgbClr val="2F855A"/>
            </a:solidFill>
            <a:prstDash val="solid"/>
          </a:ln>
        </p:spPr>
      </p:sp>
      <p:sp>
        <p:nvSpPr>
          <p:cNvPr id="31" name="lab2_trace text 27"/>
          <p:cNvSpPr txBox="1"/>
          <p:nvPr/>
        </p:nvSpPr>
        <p:spPr>
          <a:xfrm>
            <a:off x="966461" y="5042182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90" dirty="0"/>
          </a:p>
        </p:txBody>
      </p:sp>
      <p:sp>
        <p:nvSpPr>
          <p:cNvPr id="32" name="lab2_trace text 28"/>
          <p:cNvSpPr txBox="1"/>
          <p:nvPr/>
        </p:nvSpPr>
        <p:spPr>
          <a:xfrm>
            <a:off x="1206324" y="5042182"/>
            <a:ext cx="1729231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ch0.STATUS -&gt; 0x02</a:t>
            </a:r>
            <a:endParaRPr lang="en-US" sz="1090" dirty="0"/>
          </a:p>
        </p:txBody>
      </p:sp>
      <p:sp>
        <p:nvSpPr>
          <p:cNvPr id="33" name="lab2_trace text 29"/>
          <p:cNvSpPr txBox="1"/>
          <p:nvPr/>
        </p:nvSpPr>
        <p:spPr>
          <a:xfrm>
            <a:off x="5265551" y="5042182"/>
            <a:ext cx="274595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(plat_delay_us between polls)</a:t>
            </a:r>
            <a:endParaRPr lang="en-US" sz="1090" dirty="0"/>
          </a:p>
        </p:txBody>
      </p:sp>
      <p:sp>
        <p:nvSpPr>
          <p:cNvPr id="34" name="lab2_trace shape 30"/>
          <p:cNvSpPr/>
          <p:nvPr/>
        </p:nvSpPr>
        <p:spPr>
          <a:xfrm>
            <a:off x="837303" y="5341088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3838">
            <a:solidFill>
              <a:srgbClr val="2F855A"/>
            </a:solidFill>
            <a:prstDash val="solid"/>
          </a:ln>
        </p:spPr>
      </p:sp>
      <p:sp>
        <p:nvSpPr>
          <p:cNvPr id="35" name="lab2_trace text 31"/>
          <p:cNvSpPr txBox="1"/>
          <p:nvPr/>
        </p:nvSpPr>
        <p:spPr>
          <a:xfrm>
            <a:off x="966461" y="5411202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90" dirty="0"/>
          </a:p>
        </p:txBody>
      </p:sp>
      <p:sp>
        <p:nvSpPr>
          <p:cNvPr id="36" name="lab2_trace text 32"/>
          <p:cNvSpPr txBox="1"/>
          <p:nvPr/>
        </p:nvSpPr>
        <p:spPr>
          <a:xfrm>
            <a:off x="1206324" y="5411202"/>
            <a:ext cx="1729231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ch0.STATUS -&gt; 0x02</a:t>
            </a:r>
            <a:endParaRPr lang="en-US" sz="1090" dirty="0"/>
          </a:p>
        </p:txBody>
      </p:sp>
      <p:sp>
        <p:nvSpPr>
          <p:cNvPr id="37" name="lab2_trace shape 33"/>
          <p:cNvSpPr/>
          <p:nvPr/>
        </p:nvSpPr>
        <p:spPr>
          <a:xfrm>
            <a:off x="837303" y="5710109"/>
            <a:ext cx="4243737" cy="295217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 w="13838">
            <a:solidFill>
              <a:srgbClr val="2F855A"/>
            </a:solidFill>
            <a:prstDash val="solid"/>
          </a:ln>
        </p:spPr>
      </p:sp>
      <p:sp>
        <p:nvSpPr>
          <p:cNvPr id="38" name="lab2_trace text 34"/>
          <p:cNvSpPr txBox="1"/>
          <p:nvPr/>
        </p:nvSpPr>
        <p:spPr>
          <a:xfrm>
            <a:off x="966461" y="5780223"/>
            <a:ext cx="148346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90" dirty="0"/>
          </a:p>
        </p:txBody>
      </p:sp>
      <p:sp>
        <p:nvSpPr>
          <p:cNvPr id="39" name="lab2_trace text 35"/>
          <p:cNvSpPr txBox="1"/>
          <p:nvPr/>
        </p:nvSpPr>
        <p:spPr>
          <a:xfrm>
            <a:off x="1206324" y="5780223"/>
            <a:ext cx="1729231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ch0.STATUS -&gt; 0x01</a:t>
            </a:r>
            <a:endParaRPr lang="en-US" sz="1090" dirty="0"/>
          </a:p>
        </p:txBody>
      </p:sp>
      <p:sp>
        <p:nvSpPr>
          <p:cNvPr id="40" name="lab2_trace text 36"/>
          <p:cNvSpPr txBox="1"/>
          <p:nvPr/>
        </p:nvSpPr>
        <p:spPr>
          <a:xfrm>
            <a:off x="5265551" y="5780223"/>
            <a:ext cx="1183671" cy="184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109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→ return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Lab 2 exercises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chemeClr val="tx1"/>
                </a:solidFill>
              </a:rPr>
              <a:t>Change the register spec.</a:t>
            </a:r>
            <a:r>
              <a:rPr lang="en-US" sz="1900" dirty="0">
                <a:solidFill>
                  <a:schemeClr val="tx1"/>
                </a:solidFill>
              </a:rPr>
              <a:t> Add an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ovf</a:t>
            </a:r>
            <a:r>
              <a:rPr lang="en-US" sz="1900" dirty="0">
                <a:solidFill>
                  <a:schemeClr val="tx1"/>
                </a:solidFill>
              </a:rPr>
              <a:t> bit to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900" dirty="0">
                <a:solidFill>
                  <a:schemeClr val="tx1"/>
                </a:solidFill>
              </a:rPr>
              <a:t> in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rdl/timer.rdl</a:t>
            </a:r>
            <a:r>
              <a:rPr lang="en-US" sz="1900" dirty="0">
                <a:solidFill>
                  <a:schemeClr val="tx1"/>
                </a:solidFill>
              </a:rPr>
              <a:t> (bit 2, W1C: "expired again while DONE was set").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regs gen</a:t>
            </a:r>
            <a:r>
              <a:rPr lang="en-US" sz="1900" dirty="0">
                <a:solidFill>
                  <a:schemeClr val="tx1"/>
                </a:solidFill>
              </a:rPr>
              <a:t> and find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ovf</a:t>
            </a:r>
            <a:r>
              <a:rPr lang="en-US" sz="1900" dirty="0">
                <a:solidFill>
                  <a:schemeClr val="tx1"/>
                </a:solidFill>
              </a:rPr>
              <a:t> in every flavor. You edited no PSS.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chemeClr val="tx1"/>
                </a:solidFill>
              </a:rPr>
              <a:t>Write a programming sequence.</a:t>
            </a:r>
            <a:r>
              <a:rPr lang="en-US" sz="1900" dirty="0">
                <a:solidFill>
                  <a:schemeClr val="tx1"/>
                </a:solidFill>
              </a:rPr>
              <a:t> Add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timer_ch_c::ack()</a:t>
            </a:r>
            <a:r>
              <a:rPr lang="en-US" sz="1900" dirty="0">
                <a:solidFill>
                  <a:schemeClr val="tx1"/>
                </a:solidFill>
              </a:rPr>
              <a:t> (read STATUS, clear DONE|OVF, return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ovf</a:t>
            </a:r>
            <a:r>
              <a:rPr lang="en-US" sz="1900" dirty="0">
                <a:solidFill>
                  <a:schemeClr val="tx1"/>
                </a:solidFill>
              </a:rPr>
              <a:t>) and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timer_c::periodic(int c, bit[32] ticks, int n)</a:t>
            </a:r>
            <a:r>
              <a:rPr lang="en-US" sz="1900" dirty="0">
                <a:solidFill>
                  <a:schemeClr val="tx1"/>
                </a:solidFill>
              </a:rPr>
              <a:t> → number of missed expiries. Export it.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chemeClr val="tx1"/>
                </a:solidFill>
              </a:rPr>
              <a:t>Explain the trace.</a:t>
            </a:r>
            <a:r>
              <a:rPr lang="en-US" sz="1900" dirty="0">
                <a:solidFill>
                  <a:schemeClr val="tx1"/>
                </a:solidFill>
              </a:rPr>
              <a:t> Run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periodic(1, 20, 3)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periodic(1, 4, 2)</a:t>
            </a:r>
            <a:r>
              <a:rPr lang="en-US" sz="1900" dirty="0">
                <a:solidFill>
                  <a:schemeClr val="tx1"/>
                </a:solidFill>
              </a:rPr>
              <a:t>. Why does the second miss expiries? Which bus accesses come from </a:t>
            </a:r>
            <a:r>
              <a:rPr lang="en-US" sz="16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write_field</a:t>
            </a:r>
            <a:r>
              <a:rPr lang="en-US" sz="1900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Solution: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labs/lab2/solution</a:t>
            </a:r>
            <a:r>
              <a:rPr lang="en-US" sz="1800" dirty="0">
                <a:solidFill>
                  <a:schemeClr val="accent4"/>
                </a:solidFill>
              </a:rPr>
              <a:t>, run with </a:t>
            </a:r>
            <a:r>
              <a:rPr lang="en-US" sz="1550" dirty="0">
                <a:solidFill>
                  <a:srgbClr val="9C42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 SOL=1</a:t>
            </a:r>
            <a:r>
              <a:rPr lang="en-US" sz="1800" dirty="0">
                <a:solidFill>
                  <a:schemeClr val="accent4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Wrap-up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83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An </a:t>
            </a:r>
            <a:r>
              <a:rPr lang="en-US" sz="2200" b="1" dirty="0">
                <a:solidFill>
                  <a:schemeClr val="bg2"/>
                </a:solidFill>
              </a:rPr>
              <a:t>operation model</a:t>
            </a:r>
            <a:r>
              <a:rPr lang="en-US" sz="2200" dirty="0">
                <a:solidFill>
                  <a:schemeClr val="bg2"/>
                </a:solidFill>
              </a:rPr>
              <a:t> is PSS's device knowledge, separated from scenarios</a:t>
            </a:r>
            <a:endParaRPr lang="en-US" sz="22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bg2"/>
                </a:solidFill>
              </a:rPr>
              <a:t>Four parts:</a:t>
            </a:r>
            <a:r>
              <a:rPr lang="en-US" sz="2200" dirty="0">
                <a:solidFill>
                  <a:schemeClr val="bg2"/>
                </a:solidFill>
              </a:rPr>
              <a:t> export API, import API, initialization, state</a:t>
            </a:r>
            <a:endParaRPr lang="en-US" sz="22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bg2"/>
                </a:solidFill>
              </a:rPr>
              <a:t>pssc</a:t>
            </a:r>
            <a:r>
              <a:rPr lang="en-US" sz="2200" dirty="0">
                <a:solidFill>
                  <a:schemeClr val="bg2"/>
                </a:solidFill>
              </a:rPr>
              <a:t> turns one model into SV, C, C++ and Python, each idiomatic for its users</a:t>
            </a:r>
            <a:endParaRPr lang="en-US" sz="22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bg2"/>
                </a:solidFill>
              </a:rPr>
              <a:t>Register models</a:t>
            </a:r>
            <a:r>
              <a:rPr lang="en-US" sz="2200" dirty="0">
                <a:solidFill>
                  <a:schemeClr val="bg2"/>
                </a:solidFill>
              </a:rPr>
              <a:t> come from the register spec (SystemRDL → </a:t>
            </a:r>
            <a:r>
              <a:rPr lang="en-US" sz="1600" dirty="0">
                <a:solidFill>
                  <a:srgbClr val="EB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peakrdl pss</a:t>
            </a:r>
            <a:r>
              <a:rPr lang="en-US" sz="2200" dirty="0">
                <a:solidFill>
                  <a:schemeClr val="bg2"/>
                </a:solidFill>
              </a:rPr>
              <a:t>)</a:t>
            </a:r>
            <a:endParaRPr lang="en-US" sz="22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Today: </a:t>
            </a:r>
            <a:r>
              <a:rPr lang="en-US" sz="2200" b="1" dirty="0">
                <a:solidFill>
                  <a:schemeClr val="bg2"/>
                </a:solidFill>
              </a:rPr>
              <a:t>every team runs the same programming sequence</a:t>
            </a:r>
            <a:r>
              <a:rPr lang="en-US" sz="2200" dirty="0">
                <a:solidFill>
                  <a:schemeClr val="bg2"/>
                </a:solidFill>
              </a:rPr>
              <a:t>. Later: PSS tests reuse the same functions.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S operation models">
  <a:themeElements>
    <a:clrScheme name="PSS operation models">
      <a:dk1>
        <a:srgbClr val="1A202C"/>
      </a:dk1>
      <a:lt1>
        <a:srgbClr val="FFFFFF"/>
      </a:lt1>
      <a:dk2>
        <a:srgbClr val="1A365D"/>
      </a:dk2>
      <a:lt2>
        <a:srgbClr val="F1F3F5"/>
      </a:lt2>
      <a:accent1>
        <a:srgbClr val="2B6CB0"/>
      </a:accent1>
      <a:accent2>
        <a:srgbClr val="9C4221"/>
      </a:accent2>
      <a:accent3>
        <a:srgbClr val="6B46C1"/>
      </a:accent3>
      <a:accent4>
        <a:srgbClr val="718096"/>
      </a:accent4>
      <a:accent5>
        <a:srgbClr val="EBF4FF"/>
      </a:accent5>
      <a:accent6>
        <a:srgbClr val="E2E8F0"/>
      </a:accent6>
      <a:hlink>
        <a:srgbClr val="2B6CB0"/>
      </a:hlink>
      <a:folHlink>
        <a:srgbClr val="6B46C1"/>
      </a:folHlink>
    </a:clrScheme>
    <a:fontScheme name="PSS operation model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PSS Operation Models: Hands-On</dc:title>
  <dc:subject>PptxGenJS Presentation</dc:subject>
  <dc:creator>Matthew Ballance</dc:creator>
  <cp:lastModifiedBy>Matthew Ballance</cp:lastModifiedBy>
  <cp:revision>1</cp:revision>
  <dcterms:created xsi:type="dcterms:W3CDTF">2026-10-14T04:08:16Z</dcterms:created>
  <dcterms:modified xsi:type="dcterms:W3CDTF">2026-10-14T04:08:16Z</dcterms:modified>
</cp:coreProperties>
</file>